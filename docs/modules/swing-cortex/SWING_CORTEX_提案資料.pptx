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8" d="100"/>
          <a:sy n="98" d="100"/>
        </p:scale>
        <p:origin x="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696097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76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463040"/>
            <a:ext cx="4754880" cy="4754880"/>
          </a:xfrm>
          <a:prstGeom prst="ellipse">
            <a:avLst/>
          </a:prstGeom>
          <a:solidFill>
            <a:srgbClr val="10B981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4572000"/>
            <a:ext cx="3657600" cy="3657600"/>
          </a:xfrm>
          <a:prstGeom prst="ellipse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6858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685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280160" y="713232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SWING </a:t>
            </a:r>
            <a:r>
              <a:rPr lang="en-US" sz="1800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CORTEX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103120"/>
            <a:ext cx="100584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レッスンの質を、</a:t>
            </a:r>
            <a:endParaRPr lang="en-US" sz="4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店舗の“資産”に。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749808" y="39776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ゴルフスクールのためのコーチング・アシスタント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49808" y="452628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ECF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症状を選ぶだけで、その店のメソッドに沿った原因・対処・ドリル・お客様への説明。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ECF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レッスンコメントは、その店の言葉でAIが下書き。使うほど強くなる“堀”。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49808" y="5669280"/>
            <a:ext cx="2194560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749808" y="566928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iPad / PC 対応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108960" y="5669280"/>
            <a:ext cx="3931920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108960" y="566928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導入・営業ガイド ＆ 操作マニュアル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SWING CORTEX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1792" y="7772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なぜ、いま必要なのか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「良いレッスンをした」が、店の力として残っていますか？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1088136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404872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FFF1F2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40487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43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645920" y="2295144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時間が奪われる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645920" y="265176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レッスン後のコメント作成が負担。1件ずつ言葉を考え、日々の業務を圧迫。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383280"/>
            <a:ext cx="1088136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639312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FFF1F2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36393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43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645920" y="3529584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属人化する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45920" y="388620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ベテランの見立てとドリルが個人の頭の中。新人はゼロから手探りで育つ。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4617720"/>
            <a:ext cx="1088136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4873752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FFF1F2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487375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43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645920" y="4764024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資産が流出する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45920" y="512064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積み上げたノウハウがコーチの退職とともに消える。店には残らない。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645566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SWING CORTEX  ·  コーチング・アシスタント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1792" y="7772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できること — 3つの柱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429000" cy="402336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94A3B8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0D9488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14884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960120" y="306324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症状別対処法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3794760"/>
            <a:ext cx="28346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症状を選ぶと 原因→対処→ドリル→お客様への説明 が即表示。球筋・体の動き・状況別に整理。新人でもベテランの見立てを再現。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25112" y="1828800"/>
            <a:ext cx="3429000" cy="402336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94A3B8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45152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0D9488"/>
          </a:solidFill>
          <a:ln/>
        </p:spPr>
      </p:sp>
      <p:sp>
        <p:nvSpPr>
          <p:cNvPr id="11" name="Text 9"/>
          <p:cNvSpPr/>
          <p:nvPr/>
        </p:nvSpPr>
        <p:spPr>
          <a:xfrm>
            <a:off x="4645152" y="214884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645152" y="306324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AIレッスンコメント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645152" y="3794760"/>
            <a:ext cx="28346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気づきを一言入れるだけで、その店の文体・ドリル名で詳しい下書き。整形版／自然な文章を分けてコピー。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10144" y="1828800"/>
            <a:ext cx="3429000" cy="402336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94A3B8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30184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0D9488"/>
          </a:solidFill>
          <a:ln/>
        </p:spPr>
      </p:sp>
      <p:sp>
        <p:nvSpPr>
          <p:cNvPr id="16" name="Text 14"/>
          <p:cNvSpPr/>
          <p:nvPr/>
        </p:nvSpPr>
        <p:spPr>
          <a:xfrm>
            <a:off x="8330184" y="214884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330184" y="306324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使うほど賢くなる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330184" y="3794760"/>
            <a:ext cx="28346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過去コメントを取り込むほどAIが店の言い回しに近づく。傾向はインサイトで可視化し教育に還元。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645566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SWING CORTEX  ·  コーチング・アシスタント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MOAT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1792" y="7772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最大の差別化 — その店だけのメソッド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御社が実際に書いてきたレッスンコメントを解析し、その店のメソッドとして再構成。使う言葉・ドリル名・指導の順番まで、あなたの“型”が知識になります。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534924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51460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真似できるもの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4400" y="2971800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画面・機能・UIデザイン。これらは誰でも似せられます。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72200" y="2331720"/>
            <a:ext cx="5349240" cy="1600200"/>
          </a:xfrm>
          <a:prstGeom prst="roundRect">
            <a:avLst>
              <a:gd name="adj" fmla="val 5143"/>
            </a:avLst>
          </a:prstGeom>
          <a:solidFill>
            <a:srgbClr val="ECFDF5"/>
          </a:solidFill>
          <a:ln w="1905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46520" y="251460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真似できないもの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446520" y="2971800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御社が積み上げた </a:t>
            </a: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メソッド・語彙・ドリルの体系</a:t>
            </a: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。他店の実データからは決して再現できません。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4160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その店の言葉が、そのまま知識に：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572000"/>
            <a:ext cx="2606040" cy="45720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57200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三角形同調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401568" y="4572000"/>
            <a:ext cx="2606040" cy="45720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01568" y="457200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gooドリル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163056" y="4572000"/>
            <a:ext cx="2606040" cy="45720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63056" y="457200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足踏み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924544" y="4572000"/>
            <a:ext cx="2606040" cy="45720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24544" y="457200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ベタ足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5138928"/>
            <a:ext cx="2606040" cy="45720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5138928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ショルダーターン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401568" y="5138928"/>
            <a:ext cx="2606040" cy="45720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01568" y="5138928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両手クロス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163056" y="5138928"/>
            <a:ext cx="2606040" cy="45720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163056" y="5138928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ウェイトシフト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924544" y="5138928"/>
            <a:ext cx="2606040" cy="45720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924544" y="5138928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縦振り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実績：</a:t>
            </a: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あるスクールでは蓄積 5,939件 の実コメントを解析し、導入初日から“自店の型”で稼働。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57200" y="645566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SWING CORTEX  ·  コーチング・アシスタント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1792" y="7772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導入で変わること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25780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94A3B8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48840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ECFDF5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4884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874520" y="2121408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874520" y="2606040"/>
            <a:ext cx="3749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コメント作成が下書き→微修正に。1件ごとの負担を圧縮。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72200" y="1828800"/>
            <a:ext cx="525780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94A3B8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46520" y="2148840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ECFDF5"/>
          </a:solidFill>
          <a:ln/>
        </p:spPr>
      </p:sp>
      <p:sp>
        <p:nvSpPr>
          <p:cNvPr id="11" name="Text 9"/>
          <p:cNvSpPr/>
          <p:nvPr/>
        </p:nvSpPr>
        <p:spPr>
          <a:xfrm>
            <a:off x="6446520" y="214884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📐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406640" y="2121408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標準化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406640" y="2606040"/>
            <a:ext cx="3749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誰が担当しても同じ品質。新人が初日から店の型で指導。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3840480"/>
            <a:ext cx="525780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94A3B8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4160520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ECFDF5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16052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874520" y="4133088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顧客満足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874520" y="4617720"/>
            <a:ext cx="3749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納得できる言葉で説明。信頼と継続率に直結。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172200" y="3840480"/>
            <a:ext cx="525780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94A3B8">
                <a:alpha val="3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46520" y="4160520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ECFDF5"/>
          </a:solidFill>
          <a:ln/>
        </p:spPr>
      </p:sp>
      <p:sp>
        <p:nvSpPr>
          <p:cNvPr id="21" name="Text 19"/>
          <p:cNvSpPr/>
          <p:nvPr/>
        </p:nvSpPr>
        <p:spPr>
          <a:xfrm>
            <a:off x="6446520" y="416052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🏦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7406640" y="4133088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資産化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406640" y="4617720"/>
            <a:ext cx="3749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ノウハウが個人でなく店に残る。人が替わっても品質が続く。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645566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SWING CORTEX  ·  コーチング・アシスタント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 GUIDE  (1/4)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1792" y="7772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画面サンプル ＆ 撮影ガイド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赤い SAMPLE は差し替え用の見本です。ガイドに沿ってiPadの実画面を撮影してください。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5257800" cy="4480560"/>
          </a:xfrm>
          <a:prstGeom prst="roundRect">
            <a:avLst>
              <a:gd name="adj" fmla="val 183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94A3B8">
                <a:alpha val="30000"/>
              </a:srgbClr>
            </a:outerShdw>
          </a:effectLst>
        </p:spPr>
      </p:sp>
      <p:pic>
        <p:nvPicPr>
          <p:cNvPr id="6" name="Image 0" descr="/sessions/nifty-kind-carson/mnt/outputs/shot1_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2084832"/>
            <a:ext cx="2788920" cy="359359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840480" y="219456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0D9488"/>
          </a:solidFill>
          <a:ln/>
        </p:spPr>
      </p:sp>
      <p:sp>
        <p:nvSpPr>
          <p:cNvPr id="8" name="Text 5"/>
          <p:cNvSpPr/>
          <p:nvPr/>
        </p:nvSpPr>
        <p:spPr>
          <a:xfrm>
            <a:off x="3840480" y="21945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3840480" y="283464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840480" y="3794760"/>
            <a:ext cx="1737360" cy="365760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/>
        </p:spPr>
      </p:sp>
      <p:sp>
        <p:nvSpPr>
          <p:cNvPr id="11" name="Text 8"/>
          <p:cNvSpPr/>
          <p:nvPr/>
        </p:nvSpPr>
        <p:spPr>
          <a:xfrm>
            <a:off x="3840480" y="379476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撮影ガイド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840480" y="4251960"/>
            <a:ext cx="19659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ログイン画面全体。ロゴとID/PW欄が見える状態（IDは空でOK）。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172200" y="1874520"/>
            <a:ext cx="5257800" cy="4480560"/>
          </a:xfrm>
          <a:prstGeom prst="roundRect">
            <a:avLst>
              <a:gd name="adj" fmla="val 183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94A3B8">
                <a:alpha val="30000"/>
              </a:srgbClr>
            </a:outerShdw>
          </a:effectLst>
        </p:spPr>
      </p:sp>
      <p:pic>
        <p:nvPicPr>
          <p:cNvPr id="14" name="Image 1" descr="/sessions/nifty-kind-carson/mnt/outputs/shot2_libr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2084832"/>
            <a:ext cx="2788920" cy="3593592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372600" y="219456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0D9488"/>
          </a:solidFill>
          <a:ln/>
        </p:spPr>
      </p:sp>
      <p:sp>
        <p:nvSpPr>
          <p:cNvPr id="16" name="Text 12"/>
          <p:cNvSpPr/>
          <p:nvPr/>
        </p:nvSpPr>
        <p:spPr>
          <a:xfrm>
            <a:off x="9372600" y="21945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9372600" y="283464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症状別対処法（トップ）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9372600" y="3794760"/>
            <a:ext cx="1737360" cy="365760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/>
        </p:spPr>
      </p:sp>
      <p:sp>
        <p:nvSpPr>
          <p:cNvPr id="19" name="Text 15"/>
          <p:cNvSpPr/>
          <p:nvPr/>
        </p:nvSpPr>
        <p:spPr>
          <a:xfrm>
            <a:off x="9372600" y="379476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撮影ガイド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9372600" y="4251960"/>
            <a:ext cx="19659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検索バー＋カテゴリ＋症状カード一覧が見える状態。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457200" y="645566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SWING CORTEX  ·  コーチング・アシスタント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 GUIDE  (2/4)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1792" y="7772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画面サンプル ＆ 撮影ガイド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赤い SAMPLE は差し替え用の見本です。ガイドに沿ってiPadの実画面を撮影してください。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5257800" cy="4480560"/>
          </a:xfrm>
          <a:prstGeom prst="roundRect">
            <a:avLst>
              <a:gd name="adj" fmla="val 183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94A3B8">
                <a:alpha val="30000"/>
              </a:srgbClr>
            </a:outerShdw>
          </a:effectLst>
        </p:spPr>
      </p:sp>
      <p:pic>
        <p:nvPicPr>
          <p:cNvPr id="6" name="Image 0" descr="/sessions/nifty-kind-carson/mnt/outputs/shot3_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2084832"/>
            <a:ext cx="2788920" cy="359359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840480" y="219456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0D9488"/>
          </a:solidFill>
          <a:ln/>
        </p:spPr>
      </p:sp>
      <p:sp>
        <p:nvSpPr>
          <p:cNvPr id="8" name="Text 5"/>
          <p:cNvSpPr/>
          <p:nvPr/>
        </p:nvSpPr>
        <p:spPr>
          <a:xfrm>
            <a:off x="3840480" y="21945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3840480" y="283464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症状の詳細シート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840480" y="3794760"/>
            <a:ext cx="1737360" cy="365760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/>
        </p:spPr>
      </p:sp>
      <p:sp>
        <p:nvSpPr>
          <p:cNvPr id="11" name="Text 8"/>
          <p:cNvSpPr/>
          <p:nvPr/>
        </p:nvSpPr>
        <p:spPr>
          <a:xfrm>
            <a:off x="3840480" y="379476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撮影ガイド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840480" y="4251960"/>
            <a:ext cx="19659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症状を1つ開き、原因・対処・ドリル・説明とコピーが見える。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172200" y="1874520"/>
            <a:ext cx="5257800" cy="4480560"/>
          </a:xfrm>
          <a:prstGeom prst="roundRect">
            <a:avLst>
              <a:gd name="adj" fmla="val 183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94A3B8">
                <a:alpha val="30000"/>
              </a:srgbClr>
            </a:outerShdw>
          </a:effectLst>
        </p:spPr>
      </p:sp>
      <p:pic>
        <p:nvPicPr>
          <p:cNvPr id="14" name="Image 1" descr="/sessions/nifty-kind-carson/mnt/outputs/shot4_qui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2084832"/>
            <a:ext cx="2788920" cy="3593592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372600" y="219456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0D9488"/>
          </a:solidFill>
          <a:ln/>
        </p:spPr>
      </p:sp>
      <p:sp>
        <p:nvSpPr>
          <p:cNvPr id="16" name="Text 12"/>
          <p:cNvSpPr/>
          <p:nvPr/>
        </p:nvSpPr>
        <p:spPr>
          <a:xfrm>
            <a:off x="9372600" y="21945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9372600" y="283464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クイック診断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9372600" y="3794760"/>
            <a:ext cx="1737360" cy="365760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/>
        </p:spPr>
      </p:sp>
      <p:sp>
        <p:nvSpPr>
          <p:cNvPr id="19" name="Text 15"/>
          <p:cNvSpPr/>
          <p:nvPr/>
        </p:nvSpPr>
        <p:spPr>
          <a:xfrm>
            <a:off x="9372600" y="379476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撮影ガイド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9372600" y="4251960"/>
            <a:ext cx="19659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入力欄・音声ボタン・候補リストが見える状態。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457200" y="645566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SWING CORTEX  ·  コーチング・アシスタント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 GUIDE  (3/4)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1792" y="7772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画面サンプル ＆ 撮影ガイド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赤い SAMPLE は差し替え用の見本です。ガイドに沿ってiPadの実画面を撮影してください。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5257800" cy="4480560"/>
          </a:xfrm>
          <a:prstGeom prst="roundRect">
            <a:avLst>
              <a:gd name="adj" fmla="val 183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94A3B8">
                <a:alpha val="30000"/>
              </a:srgbClr>
            </a:outerShdw>
          </a:effectLst>
        </p:spPr>
      </p:sp>
      <p:pic>
        <p:nvPicPr>
          <p:cNvPr id="6" name="Image 0" descr="/sessions/nifty-kind-carson/mnt/outputs/shot5_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2084832"/>
            <a:ext cx="2788920" cy="359359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840480" y="219456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0D9488"/>
          </a:solidFill>
          <a:ln/>
        </p:spPr>
      </p:sp>
      <p:sp>
        <p:nvSpPr>
          <p:cNvPr id="8" name="Text 5"/>
          <p:cNvSpPr/>
          <p:nvPr/>
        </p:nvSpPr>
        <p:spPr>
          <a:xfrm>
            <a:off x="3840480" y="21945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3840480" y="283464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AIレッスンコメント作成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840480" y="3794760"/>
            <a:ext cx="1737360" cy="365760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/>
        </p:spPr>
      </p:sp>
      <p:sp>
        <p:nvSpPr>
          <p:cNvPr id="11" name="Text 8"/>
          <p:cNvSpPr/>
          <p:nvPr/>
        </p:nvSpPr>
        <p:spPr>
          <a:xfrm>
            <a:off x="3840480" y="379476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撮影ガイド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840480" y="4251960"/>
            <a:ext cx="19659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下書き生成後、整形版／自然文タブとコピーが見える。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172200" y="1874520"/>
            <a:ext cx="5257800" cy="4480560"/>
          </a:xfrm>
          <a:prstGeom prst="roundRect">
            <a:avLst>
              <a:gd name="adj" fmla="val 183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94A3B8">
                <a:alpha val="30000"/>
              </a:srgbClr>
            </a:outerShdw>
          </a:effectLst>
        </p:spPr>
      </p:sp>
      <p:pic>
        <p:nvPicPr>
          <p:cNvPr id="14" name="Image 1" descr="/sessions/nifty-kind-carson/mnt/outputs/shot6_insigh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2084832"/>
            <a:ext cx="2788920" cy="3593592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372600" y="219456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0D9488"/>
          </a:solidFill>
          <a:ln/>
        </p:spPr>
      </p:sp>
      <p:sp>
        <p:nvSpPr>
          <p:cNvPr id="16" name="Text 12"/>
          <p:cNvSpPr/>
          <p:nvPr/>
        </p:nvSpPr>
        <p:spPr>
          <a:xfrm>
            <a:off x="9372600" y="21945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9372600" y="283464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インサイト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9372600" y="3794760"/>
            <a:ext cx="1737360" cy="365760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/>
        </p:spPr>
      </p:sp>
      <p:sp>
        <p:nvSpPr>
          <p:cNvPr id="19" name="Text 15"/>
          <p:cNvSpPr/>
          <p:nvPr/>
        </p:nvSpPr>
        <p:spPr>
          <a:xfrm>
            <a:off x="9372600" y="379476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撮影ガイド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9372600" y="4251960"/>
            <a:ext cx="19659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症状の傾向グラフが表示された状態。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457200" y="645566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SWING CORTEX  ·  コーチング・アシスタント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 GUIDE  (4/4)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1792" y="7772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画面サンプル ＆ 撮影ガイド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赤い SAMPLE は差し替え用の見本です。ガイドに沿ってiPadの実画面を撮影してください。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5257800" cy="4480560"/>
          </a:xfrm>
          <a:prstGeom prst="roundRect">
            <a:avLst>
              <a:gd name="adj" fmla="val 183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94A3B8">
                <a:alpha val="30000"/>
              </a:srgbClr>
            </a:outerShdw>
          </a:effectLst>
        </p:spPr>
      </p:sp>
      <p:pic>
        <p:nvPicPr>
          <p:cNvPr id="6" name="Image 0" descr="/sessions/nifty-kind-carson/mnt/outputs/shot7_kar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2084832"/>
            <a:ext cx="2788920" cy="359359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840480" y="219456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0D9488"/>
          </a:solidFill>
          <a:ln/>
        </p:spPr>
      </p:sp>
      <p:sp>
        <p:nvSpPr>
          <p:cNvPr id="8" name="Text 5"/>
          <p:cNvSpPr/>
          <p:nvPr/>
        </p:nvSpPr>
        <p:spPr>
          <a:xfrm>
            <a:off x="3840480" y="21945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3840480" y="283464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生徒カルテ（Pro）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840480" y="3794760"/>
            <a:ext cx="1737360" cy="365760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/>
        </p:spPr>
      </p:sp>
      <p:sp>
        <p:nvSpPr>
          <p:cNvPr id="11" name="Text 8"/>
          <p:cNvSpPr/>
          <p:nvPr/>
        </p:nvSpPr>
        <p:spPr>
          <a:xfrm>
            <a:off x="3840480" y="379476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撮影ガイド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840480" y="4251960"/>
            <a:ext cx="19659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生徒を選択し、カルテ履歴が並んだ状態。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172200" y="1874520"/>
            <a:ext cx="5257800" cy="4480560"/>
          </a:xfrm>
          <a:prstGeom prst="roundRect">
            <a:avLst>
              <a:gd name="adj" fmla="val 183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94A3B8">
                <a:alpha val="30000"/>
              </a:srgbClr>
            </a:outerShdw>
          </a:effectLst>
        </p:spPr>
      </p:sp>
      <p:pic>
        <p:nvPicPr>
          <p:cNvPr id="14" name="Image 1" descr="/sessions/nifty-kind-carson/mnt/outputs/shot8_setting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2084832"/>
            <a:ext cx="2788920" cy="3593592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372600" y="219456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0D9488"/>
          </a:solidFill>
          <a:ln/>
        </p:spPr>
      </p:sp>
      <p:sp>
        <p:nvSpPr>
          <p:cNvPr id="16" name="Text 12"/>
          <p:cNvSpPr/>
          <p:nvPr/>
        </p:nvSpPr>
        <p:spPr>
          <a:xfrm>
            <a:off x="9372600" y="21945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9372600" y="283464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設定・データ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9372600" y="3794760"/>
            <a:ext cx="1737360" cy="365760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/>
        </p:spPr>
      </p:sp>
      <p:sp>
        <p:nvSpPr>
          <p:cNvPr id="19" name="Text 15"/>
          <p:cNvSpPr/>
          <p:nvPr/>
        </p:nvSpPr>
        <p:spPr>
          <a:xfrm>
            <a:off x="9372600" y="379476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撮影ガイド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9372600" y="4251960"/>
            <a:ext cx="19659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Excel取込・項目編集・書き出しが見える設定画面。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457200" y="645566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SWING CORTEX  ·  コーチング・アシスタント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1792" y="7772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エディション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920240"/>
          <a:ext cx="10515600" cy="914400"/>
        </p:xfrm>
        <a:graphic>
          <a:graphicData uri="http://schemas.openxmlformats.org/drawingml/2006/table">
            <a:tbl>
              <a:tblPr/>
              <a:tblGrid>
                <a:gridCol w="6492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機能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症状別対処法（その店のメソッド）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クイック診断（短文・音声）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AIレッスンコメント作成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インサイト（傾向の可視化）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Excel取込／項目編集／書き出し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生徒カルテCRM（パーソナライズ）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Standard＝診断とAIコメント作成まで。 Pro＝生徒カルテによるパーソナライズを含む全機能。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457200" y="645566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SWING CORTEX  ·  コーチング・アシスタント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4389120"/>
            <a:ext cx="4114800" cy="4114800"/>
          </a:xfrm>
          <a:prstGeom prst="ellipse">
            <a:avLst/>
          </a:prstGeom>
          <a:solidFill>
            <a:srgbClr val="0D9488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37160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まずはデモで体験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21945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実データが入ったデモ環境で、症状別対処法とAIコメント生成をそのままお試しいただけます。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2926080"/>
            <a:ext cx="6949440" cy="2194560"/>
          </a:xfrm>
          <a:prstGeom prst="roundRect">
            <a:avLst>
              <a:gd name="adj" fmla="val 375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32004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88720" y="35204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https://swing-cortex.vercel.app/login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88720" y="41148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88720" y="44348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206240" y="41148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206240" y="44348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yozan1234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2960" y="53949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デモは閲覧・体験用。実導入では店舗ごとに独立したメソッド領域をご用意します。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22960" y="59436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SWING CORTEX</a:t>
            </a: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レッスンの質を、店舗の資産に。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537</Words>
  <Application>Microsoft Office PowerPoint</Application>
  <PresentationFormat>ワイド画面</PresentationFormat>
  <Paragraphs>170</Paragraphs>
  <Slides>11</Slides>
  <Notes>11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5" baseType="lpstr">
      <vt:lpstr>Arial</vt:lpstr>
      <vt:lpstr>Calibri</vt:lpstr>
      <vt:lpstr>Courier New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HIRONOBU FURUKAWA</cp:lastModifiedBy>
  <cp:revision>1</cp:revision>
  <dcterms:created xsi:type="dcterms:W3CDTF">2026-07-24T04:46:21Z</dcterms:created>
  <dcterms:modified xsi:type="dcterms:W3CDTF">2026-07-31T03:56:42Z</dcterms:modified>
</cp:coreProperties>
</file>