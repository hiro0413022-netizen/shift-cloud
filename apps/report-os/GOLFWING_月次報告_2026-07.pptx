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正会員</c:v>
                </c:pt>
              </c:strCache>
            </c:strRef>
          </c:tx>
          <c:spPr>
            <a:ln w="38100" cap="flat">
              <a:solidFill>
                <a:srgbClr val="1E6B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6B3A"/>
              </a:solidFill>
              <a:ln w="9525" cap="flat">
                <a:solidFill>
                  <a:srgbClr val="1E6B3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25/08</c:v>
                </c:pt>
                <c:pt idx="1">
                  <c:v>25/09</c:v>
                </c:pt>
                <c:pt idx="2">
                  <c:v>25/10</c:v>
                </c:pt>
                <c:pt idx="3">
                  <c:v>25/11</c:v>
                </c:pt>
                <c:pt idx="4">
                  <c:v>25/12</c:v>
                </c:pt>
                <c:pt idx="5">
                  <c:v>26/01</c:v>
                </c:pt>
                <c:pt idx="6">
                  <c:v>26/02</c:v>
                </c:pt>
                <c:pt idx="7">
                  <c:v>26/03</c:v>
                </c:pt>
                <c:pt idx="8">
                  <c:v>26/04</c:v>
                </c:pt>
                <c:pt idx="9">
                  <c:v>26/05</c:v>
                </c:pt>
                <c:pt idx="10">
                  <c:v>26/06</c:v>
                </c:pt>
                <c:pt idx="11">
                  <c:v>26/07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</c:v>
                </c:pt>
                <c:pt idx="1">
                  <c:v>148</c:v>
                </c:pt>
                <c:pt idx="2">
                  <c:v>155</c:v>
                </c:pt>
                <c:pt idx="3">
                  <c:v>161</c:v>
                </c:pt>
                <c:pt idx="4">
                  <c:v>169</c:v>
                </c:pt>
                <c:pt idx="5">
                  <c:v>172</c:v>
                </c:pt>
                <c:pt idx="6">
                  <c:v>180</c:v>
                </c:pt>
                <c:pt idx="7">
                  <c:v>188</c:v>
                </c:pt>
                <c:pt idx="8">
                  <c:v>196</c:v>
                </c:pt>
                <c:pt idx="9">
                  <c:v>203</c:v>
                </c:pt>
                <c:pt idx="10">
                  <c:v>210</c:v>
                </c:pt>
                <c:pt idx="11">
                  <c:v>215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002-4A84-BDA2-C147B55E4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30"/>
        </c:scaling>
        <c:delete val="0"/>
        <c:axPos val="l"/>
        <c:majorGridlines>
          <c:spPr>
            <a:ln w="6350" cap="flat">
              <a:solidFill>
                <a:srgbClr val="D8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物販売上</c:v>
                </c:pt>
              </c:strCache>
            </c:strRef>
          </c:tx>
          <c:spPr>
            <a:solidFill>
              <a:srgbClr val="3E8E5A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25/08</c:v>
                </c:pt>
                <c:pt idx="1">
                  <c:v>25/09</c:v>
                </c:pt>
                <c:pt idx="2">
                  <c:v>25/10</c:v>
                </c:pt>
                <c:pt idx="3">
                  <c:v>25/11</c:v>
                </c:pt>
                <c:pt idx="4">
                  <c:v>25/12</c:v>
                </c:pt>
                <c:pt idx="5">
                  <c:v>26/01</c:v>
                </c:pt>
                <c:pt idx="6">
                  <c:v>26/02</c:v>
                </c:pt>
                <c:pt idx="7">
                  <c:v>26/03</c:v>
                </c:pt>
                <c:pt idx="8">
                  <c:v>26/04</c:v>
                </c:pt>
                <c:pt idx="9">
                  <c:v>26/05</c:v>
                </c:pt>
                <c:pt idx="10">
                  <c:v>26/06</c:v>
                </c:pt>
                <c:pt idx="11">
                  <c:v>26/07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893085</c:v>
                </c:pt>
                <c:pt idx="1">
                  <c:v>338732</c:v>
                </c:pt>
                <c:pt idx="2">
                  <c:v>518524</c:v>
                </c:pt>
                <c:pt idx="3">
                  <c:v>1113784</c:v>
                </c:pt>
                <c:pt idx="4">
                  <c:v>844786</c:v>
                </c:pt>
                <c:pt idx="5">
                  <c:v>755562</c:v>
                </c:pt>
                <c:pt idx="6">
                  <c:v>616694</c:v>
                </c:pt>
                <c:pt idx="7">
                  <c:v>809470</c:v>
                </c:pt>
                <c:pt idx="8">
                  <c:v>908638</c:v>
                </c:pt>
                <c:pt idx="9">
                  <c:v>711192</c:v>
                </c:pt>
                <c:pt idx="10">
                  <c:v>1067456</c:v>
                </c:pt>
                <c:pt idx="11">
                  <c:v>747820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0-4C5C-AAC6-48DD33399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8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108960"/>
            <a:ext cx="2926080" cy="2926080"/>
          </a:xfrm>
          <a:prstGeom prst="ellipse">
            <a:avLst/>
          </a:prstGeom>
          <a:solidFill>
            <a:srgbClr val="1A4A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MONTHLY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FE0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月次報告書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2743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宝塚　株式会社YOZAN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作成: CEO AI 秘書 (YOZAN GENESIS)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今月のサマリー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2026年7月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4721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会員数（正会員）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282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215人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682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+5人 (+2.4%)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6243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+77人 (+55.8%)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6600" y="13258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7768" y="14721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体験（一時利用）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9480" y="17282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13件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77768" y="23682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+6件 (+85.7%)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7768" y="26243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-2件 (-13.3%)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6000" y="13258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97168" y="14721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入会率(入会/体験)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78880" y="17282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97168" y="23682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-28.6pt (-22.2%)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97168" y="26243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+33.3pt (+49.9%)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33009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5570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8368" y="41970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-0.5pt (-11.1%)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44531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r>
              <a:rPr lang="en-US" sz="11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76600" y="31546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7768" y="33009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物販売上(税抜)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59480" y="35570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¥747,820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477768" y="41970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-319,636円 (-29.9%)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7768" y="44531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r>
              <a:rPr lang="en-US" sz="1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+82,112円 (+12.3%)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6000" y="3154680"/>
            <a:ext cx="2590800" cy="1627632"/>
          </a:xfrm>
          <a:prstGeom prst="roundRect">
            <a:avLst>
              <a:gd name="adj" fmla="val 4494"/>
            </a:avLst>
          </a:prstGeom>
          <a:solidFill>
            <a:srgbClr val="F1F5F1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97168" y="3300984"/>
            <a:ext cx="222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フィッティング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78880" y="3557016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3件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6297168" y="4197096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-4件 (-57.1%)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97168" y="4453128"/>
            <a:ext cx="222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-11件 (-78.6%)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会員数の推移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2026年7月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58521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23444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1F5F1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325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当月 会員数（正会員）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720840" y="15636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215人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720840" y="20299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05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+5人 (+2.4%)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7960" y="2432304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1F5F1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52374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当月の異動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20840" y="2761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新規入会　</a:t>
            </a:r>
            <a:r>
              <a:rPr lang="en-US" sz="13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13人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720840" y="3044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退会者数　</a:t>
            </a:r>
            <a:r>
              <a:rPr lang="en-US" sz="13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9人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37960" y="3465576"/>
            <a:ext cx="2148840" cy="1243584"/>
          </a:xfrm>
          <a:prstGeom prst="roundRect">
            <a:avLst>
              <a:gd name="adj" fmla="val 5882"/>
            </a:avLst>
          </a:prstGeom>
          <a:solidFill>
            <a:srgbClr val="13311E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会員数に含まない区分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720840" y="3785616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　15人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モニター会員　7人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法人会員2枚目　5人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トライアル会員　0人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38039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9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会員構成（会員種類名）: </a:t>
            </a:r>
            <a:r>
              <a:rPr lang="en-US" sz="9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レギュラー会員139 / マスター会員36 / チケット会員15 / ライト会員9 / レギュラー家族割会員7 / 法人会員6 / プラチナレギュラー会員3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206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会員数（正会員）＝会員名簿の在籍から、会員種類名「スタッフ」「モニター会員」「法人会員2枚目」「トライアル会員」を除外。当月末退会者は当月の会員数に含めない。表記は会員名簿の会員種類名どおり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物販売上・フィッティング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2026年7月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58521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23444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1F5F1"/>
          </a:solidFill>
          <a:ln/>
        </p:spPr>
      </p:sp>
      <p:sp>
        <p:nvSpPr>
          <p:cNvPr id="7" name="Text 4"/>
          <p:cNvSpPr/>
          <p:nvPr/>
        </p:nvSpPr>
        <p:spPr>
          <a:xfrm>
            <a:off x="6720840" y="1353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当月 物販売上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20840" y="16276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¥747,820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720840" y="2084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1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-319,636円 (-29.9%)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7960" y="260604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13311E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7249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フィッティング件数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20840" y="29809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3件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720840" y="349300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前月比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-4件 (-57.1%)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20840" y="3749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6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前年比 </a:t>
            </a: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-11件 (-78.6%)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月間の実施事項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2026年7月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12648"/>
          </a:xfrm>
          <a:prstGeom prst="roundRect">
            <a:avLst>
              <a:gd name="adj" fmla="val 8955"/>
            </a:avLst>
          </a:prstGeom>
          <a:solidFill>
            <a:srgbClr val="F1F5F1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85316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853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53312"/>
            <a:ext cx="7269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7月は新規入会13名・退会9名で純増4名、正会員215名（前月210名・前年同月138名／前年比+77名）。入会13名は直近13ヶ月で最多。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8229600" cy="612648"/>
          </a:xfrm>
          <a:prstGeom prst="roundRect">
            <a:avLst>
              <a:gd name="adj" fmla="val 8955"/>
            </a:avLst>
          </a:prstGeom>
          <a:solidFill>
            <a:srgbClr val="F1F5F1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135124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35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7269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体験は13件（前月7件）と回復。当月入会13名で入会率100.0%（体験を経ない直接入会も含むため参考値）。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8229600" cy="612648"/>
          </a:xfrm>
          <a:prstGeom prst="roundRect">
            <a:avLst>
              <a:gd name="adj" fmla="val 8955"/>
            </a:avLst>
          </a:prstGeom>
          <a:solidFill>
            <a:srgbClr val="F1F5F1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884932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849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852928"/>
            <a:ext cx="7269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8月からの料金改定を前に、旧料金での駆け込み入会の動きがあったとみられる（要確認）。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8229600" cy="612648"/>
          </a:xfrm>
          <a:prstGeom prst="roundRect">
            <a:avLst>
              <a:gd name="adj" fmla="val 8955"/>
            </a:avLst>
          </a:prstGeom>
          <a:solidFill>
            <a:srgbClr val="F1F5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634740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6347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602736"/>
            <a:ext cx="7269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会員構成はレギュラー139名・マスター36名が中心。法人会員が5→6名に増加。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8229600" cy="612648"/>
          </a:xfrm>
          <a:prstGeom prst="roundRect">
            <a:avLst>
              <a:gd name="adj" fmla="val 8955"/>
            </a:avLst>
          </a:prstGeom>
          <a:solidFill>
            <a:srgbClr val="F1F5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4384548"/>
            <a:ext cx="402336" cy="402336"/>
          </a:xfrm>
          <a:prstGeom prst="ellipse">
            <a:avLst/>
          </a:prstGeom>
          <a:solidFill>
            <a:srgbClr val="1E6B3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3845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352544"/>
            <a:ext cx="7269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物販売上は747,820円（税抜）。前月1,067,456円から▲29.9%、前年同月665,708円から+12.3%。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問題点の洗い出し ／ 実施予定（解決策）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2026年7月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問題点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1207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6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実施予定・解決策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023360" cy="699516"/>
          </a:xfrm>
          <a:prstGeom prst="roundRect">
            <a:avLst>
              <a:gd name="adj" fmla="val 7843"/>
            </a:avLst>
          </a:prstGeom>
          <a:solidFill>
            <a:srgbClr val="FBEEE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55064"/>
            <a:ext cx="36576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退会9名で退会率4.0%。6月も退会10名・4.5%であり、月10名前後の退会が2ヶ月続いている。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699516"/>
          </a:xfrm>
          <a:prstGeom prst="roundRect">
            <a:avLst>
              <a:gd name="adj" fmla="val 7843"/>
            </a:avLst>
          </a:prstGeom>
          <a:solidFill>
            <a:srgbClr val="E7EFE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55064"/>
            <a:ext cx="36576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【定着施策】退会者を会員種別・在籍期間で分析し、8月の料金改定に合わせて休会・プラン変更の選択肢を提示する。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1867662"/>
            <a:ext cx="1828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464308"/>
            <a:ext cx="4023360" cy="699516"/>
          </a:xfrm>
          <a:prstGeom prst="roundRect">
            <a:avLst>
              <a:gd name="adj" fmla="val 7843"/>
            </a:avLst>
          </a:prstGeom>
          <a:solidFill>
            <a:srgbClr val="FBEE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9172"/>
            <a:ext cx="36576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退会理由に「予約が取りづらい」が6月2名・7月2名。混雑時間帯の予約導線が継続課題。理由未入力（「選択してください」等）も6月2名・7月4名あり、実態が掴めていない。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64308"/>
            <a:ext cx="4023360" cy="699516"/>
          </a:xfrm>
          <a:prstGeom prst="roundRect">
            <a:avLst>
              <a:gd name="adj" fmla="val 7843"/>
            </a:avLst>
          </a:prstGeom>
          <a:solidFill>
            <a:srgbClr val="E7EFE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519172"/>
            <a:ext cx="36576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【予約の取りやすさ】混雑時間帯の空き枠可視化と時間帯分散を検討。退会理由の入力を必須化し、理由を確実に残す運用へ変更する。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731770"/>
            <a:ext cx="1828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328416"/>
            <a:ext cx="4023360" cy="699516"/>
          </a:xfrm>
          <a:prstGeom prst="roundRect">
            <a:avLst>
              <a:gd name="adj" fmla="val 7843"/>
            </a:avLst>
          </a:prstGeom>
          <a:solidFill>
            <a:srgbClr val="FBEEE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36576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フィッティングが3件（前月7件・前年同月14件）と大きく減少。物販の主要な入口が細っている。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28416"/>
            <a:ext cx="4023360" cy="699516"/>
          </a:xfrm>
          <a:prstGeom prst="roundRect">
            <a:avLst>
              <a:gd name="adj" fmla="val 7843"/>
            </a:avLst>
          </a:prstGeom>
          <a:solidFill>
            <a:srgbClr val="E7EFE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83280"/>
            <a:ext cx="36576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【フィッティング送客】減少要因を確認し、体験者・既存会員への案内導線を再設計して件数を回復させる。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595878"/>
            <a:ext cx="1828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4192524"/>
            <a:ext cx="4023360" cy="699516"/>
          </a:xfrm>
          <a:prstGeom prst="roundRect">
            <a:avLst>
              <a:gd name="adj" fmla="val 7843"/>
            </a:avLst>
          </a:prstGeom>
          <a:solidFill>
            <a:srgbClr val="FBEEE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47388"/>
            <a:ext cx="36576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物販売上が前月比▲29.9%。6月のクラブ・シャフトのまとまった販売の反動とみられるが、フィッティング減少との関連を確認したい。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4192524"/>
            <a:ext cx="4023360" cy="699516"/>
          </a:xfrm>
          <a:prstGeom prst="roundRect">
            <a:avLst>
              <a:gd name="adj" fmla="val 7843"/>
            </a:avLst>
          </a:prstGeom>
          <a:solidFill>
            <a:srgbClr val="E7EFE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247388"/>
            <a:ext cx="365760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【物販】フィッティング起点の販売比率を把握し、8月は在庫・提案商材を絞って回復を図る。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26280" y="4459986"/>
            <a:ext cx="18288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その他 情報共有事項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2026年7月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581912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入会率＝当月入会数÷当月体験数。7月は13÷13＝100.0%。体験を経ない直接入会も含むため100%を超えることがある。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95144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8483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退会率＝当月退会者÷（月末会員数＋当月退会者）。7月は9÷(215+9)＝4.0%、6月は10÷(210+10)＝4.5%。7月の退会9名にはトライアル会員2名、6月の10名にはトライアル会員3名（自動退会）を含む。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08376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98064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【訂正】6月の退会率はこれまで0.0%と表示していたが誤り。Smart Helloの会員名簿は退会済みの会員を名簿から削除するため、再取込のたびに過去の退会者が消えていた。6月の退会者名簿から10名を確定し、以降はスナップショットを正として保持する。退会者が未取得の月は0%ではなく「—」と表示する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721608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1129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物販売上は今回から税抜に統一し、売上台帳の明細（mon_sales_lines）を正ソースとした。過去50ヶ月（2022年6月〜）も税抜で再構築済み。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118872" cy="11887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24528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在籍スタッフ7名＝プロ6名（井殿・安東・卜部・福原・榎本・前田）／受付1名（谷川）。会員名簿の会員種類「スタッフ」15名とは別集計。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指標一覧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GOLF WING　2026年7月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E7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4975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前月比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前年同月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前年比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会員数（正会員）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215人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210人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+5人 (+2.4%)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138人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+77人 (+55.8%)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体験（一時利用）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+6件 (+85.7%)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-2件 (-13.3%)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入会率(入会/体験)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128.6%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-28.6pt (-22.2%)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66.7%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+33.3pt (+49.9%)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退会率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4.5%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-0.5pt (-11.1%)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物販売上(税抜)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¥747,820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¥1,067,456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-319,636円 (-29.9%)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¥665,708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E6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+82,112円 (+12.3%)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フィッティング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-4件 (-57.1%)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14件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-11件 (-78.6%)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在籍スタッフ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±0人 (0%)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新規入会（当月）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退会者数（当月）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B2A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9人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B7B7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—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B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会員数・入会数・除外区分は会員名簿(mbr_members)、体験・フィッティングは一時利用者名簿(mbr_walkin_visits)、物販売上は売上台帳明細(mon_sales_lines 品目「販売」税抜→rpt_retail_sales)。入会率＝当月入会数÷当月体験数（体験非経由の入会も含むため100%超あり）。退会率＝当月退会者÷(月末会員数＋当月退会者)で、退会者数は rpt_member_snapshots を優先（会員名簿は退会済みを削除するため）。退会者が未取得の月は退会率を「—」と表示する。在籍スタッフはGOLF WING宝塚の実在籍（会員名簿の会員種類「スタッフ」とは別）。会員数の推移は名簿の入会日からの再構成のため、過去に退会した会員を含まない参考値。本資料は下書きであり、古川さんの承認を経るまで確定・配布しない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939</Words>
  <Application>Microsoft Office PowerPoint</Application>
  <PresentationFormat>画面に合わせる (16:9)</PresentationFormat>
  <Paragraphs>165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GOLF WING 月次報告 2026年7月</dc:title>
  <dc:subject>PptxGenJS Presentation</dc:subject>
  <dc:creator>CEO AI 秘書 (YOZAN GENESIS)</dc:creator>
  <cp:lastModifiedBy>HIRONOBU FURUKAWA</cp:lastModifiedBy>
  <cp:revision>1</cp:revision>
  <dcterms:created xsi:type="dcterms:W3CDTF">2026-08-05T07:03:18Z</dcterms:created>
  <dcterms:modified xsi:type="dcterms:W3CDTF">2026-08-06T14:20:17Z</dcterms:modified>
</cp:coreProperties>
</file>