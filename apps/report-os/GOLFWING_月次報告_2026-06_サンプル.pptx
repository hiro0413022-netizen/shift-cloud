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正会員</c:v>
                </c:pt>
              </c:strCache>
            </c:strRef>
          </c:tx>
          <c:spPr>
            <a:solidFill>
              <a:srgbClr val="1E6B3A"/>
            </a:solidFill>
            <a:ln w="38100" cap="flat">
              <a:solidFill>
                <a:srgbClr val="1E6B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E6B3A"/>
              </a:solidFill>
              <a:ln w="9525" cap="flat">
                <a:solidFill>
                  <a:srgbClr val="1E6B3A"/>
                </a:solidFill>
                <a:prstDash val="solid"/>
                <a:round/>
              </a:ln>
              <a:effectLst/>
            </c:spPr>
          </c:marker>
          <c:cat>
            <c:multiLvlStrRef>
              <c:f>Sheet1!$A$2:$A$13</c:f>
              <c:multiLvlStrCache>
                <c:ptCount val="12"/>
                <c:lvl>
                  <c:pt idx="0">
                    <c:v>25/07</c:v>
                  </c:pt>
                  <c:pt idx="1">
                    <c:v>25/08</c:v>
                  </c:pt>
                  <c:pt idx="2">
                    <c:v>25/09</c:v>
                  </c:pt>
                  <c:pt idx="3">
                    <c:v>25/10</c:v>
                  </c:pt>
                  <c:pt idx="4">
                    <c:v>25/11</c:v>
                  </c:pt>
                  <c:pt idx="5">
                    <c:v>25/12</c:v>
                  </c:pt>
                  <c:pt idx="6">
                    <c:v>26/01</c:v>
                  </c:pt>
                  <c:pt idx="7">
                    <c:v>26/02</c:v>
                  </c:pt>
                  <c:pt idx="8">
                    <c:v>26/03</c:v>
                  </c:pt>
                  <c:pt idx="9">
                    <c:v>26/04</c:v>
                  </c:pt>
                  <c:pt idx="10">
                    <c:v>26/05</c:v>
                  </c:pt>
                  <c:pt idx="11">
                    <c:v>26/06</c:v>
                  </c:pt>
                </c:lvl>
              </c:multiLvlStrCache>
            </c:multiLvlStrRef>
          </c:cat>
          <c:val>
            <c:numRef>
              <c:f>Sheet1!$B$2:$B$13</c:f>
              <c:numCache>
                <c:formatCode>General</c:formatCode>
                <c:ptCount val="12"/>
                <c:pt idx="0">
                  <c:v>138</c:v>
                </c:pt>
                <c:pt idx="1">
                  <c:v>144</c:v>
                </c:pt>
                <c:pt idx="2">
                  <c:v>148</c:v>
                </c:pt>
                <c:pt idx="3">
                  <c:v>155</c:v>
                </c:pt>
                <c:pt idx="4">
                  <c:v>161</c:v>
                </c:pt>
                <c:pt idx="5">
                  <c:v>169</c:v>
                </c:pt>
                <c:pt idx="6">
                  <c:v>172</c:v>
                </c:pt>
                <c:pt idx="7">
                  <c:v>180</c:v>
                </c:pt>
                <c:pt idx="8">
                  <c:v>188</c:v>
                </c:pt>
                <c:pt idx="9">
                  <c:v>196</c:v>
                </c:pt>
                <c:pt idx="10">
                  <c:v>203</c:v>
                </c:pt>
                <c:pt idx="11">
                  <c:v>210</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7B70"/>
                </a:solidFill>
                <a:latin typeface="Meiryo"/>
              </a:defRPr>
            </a:pPr>
            <a:endParaRPr lang="en-US"/>
          </a:p>
        </c:txPr>
        <c:crossAx val="2094734552"/>
        <c:crosses val="autoZero"/>
        <c:auto val="1"/>
        <c:lblAlgn val="ctr"/>
        <c:noMultiLvlLbl val="1"/>
      </c:catAx>
      <c:valAx>
        <c:axId val="2094734552"/>
        <c:scaling>
          <c:orientation val="minMax"/>
          <c:min val="120"/>
        </c:scaling>
        <c:delete val="0"/>
        <c:axPos val="l"/>
        <c:majorGridlines>
          <c:spPr>
            <a:ln w="6350" cap="flat">
              <a:solidFill>
                <a:srgbClr val="D8E2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B7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物販売上</c:v>
                </c:pt>
              </c:strCache>
            </c:strRef>
          </c:tx>
          <c:spPr>
            <a:solidFill>
              <a:srgbClr val="3E8E5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25/07</c:v>
                  </c:pt>
                  <c:pt idx="1">
                    <c:v>25/08</c:v>
                  </c:pt>
                  <c:pt idx="2">
                    <c:v>25/09</c:v>
                  </c:pt>
                  <c:pt idx="3">
                    <c:v>25/10</c:v>
                  </c:pt>
                  <c:pt idx="4">
                    <c:v>25/11</c:v>
                  </c:pt>
                  <c:pt idx="5">
                    <c:v>25/12</c:v>
                  </c:pt>
                  <c:pt idx="6">
                    <c:v>26/01</c:v>
                  </c:pt>
                  <c:pt idx="7">
                    <c:v>26/02</c:v>
                  </c:pt>
                  <c:pt idx="8">
                    <c:v>26/03</c:v>
                  </c:pt>
                  <c:pt idx="9">
                    <c:v>26/04</c:v>
                  </c:pt>
                  <c:pt idx="10">
                    <c:v>26/05</c:v>
                  </c:pt>
                  <c:pt idx="11">
                    <c:v>26/06</c:v>
                  </c:pt>
                </c:lvl>
              </c:multiLvlStrCache>
            </c:multiLvlStrRef>
          </c:cat>
          <c:val>
            <c:numRef>
              <c:f>Sheet1!$B$2:$B$13</c:f>
              <c:numCache>
                <c:formatCode>General</c:formatCode>
                <c:ptCount val="12"/>
                <c:pt idx="0">
                  <c:v>690000</c:v>
                </c:pt>
                <c:pt idx="1">
                  <c:v>705000</c:v>
                </c:pt>
                <c:pt idx="2">
                  <c:v>668000</c:v>
                </c:pt>
                <c:pt idx="3">
                  <c:v>712000</c:v>
                </c:pt>
                <c:pt idx="4">
                  <c:v>758000</c:v>
                </c:pt>
                <c:pt idx="5">
                  <c:v>921000</c:v>
                </c:pt>
                <c:pt idx="6">
                  <c:v>640000</c:v>
                </c:pt>
                <c:pt idx="7">
                  <c:v>688000</c:v>
                </c:pt>
                <c:pt idx="8">
                  <c:v>795000</c:v>
                </c:pt>
                <c:pt idx="9">
                  <c:v>731000</c:v>
                </c:pt>
                <c:pt idx="10">
                  <c:v>715000</c:v>
                </c:pt>
                <c:pt idx="11">
                  <c:v>842000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7B70"/>
                </a:solidFill>
                <a:latin typeface="Meiryo"/>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8E2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B7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311E"/>
        </a:solidFill>
      </p:bgPr>
    </p:bg>
    <p:spTree>
      <p:nvGrpSpPr>
        <p:cNvPr id="1" name=""/>
        <p:cNvGrpSpPr/>
        <p:nvPr/>
      </p:nvGrpSpPr>
      <p:grpSpPr>
        <a:xfrm>
          <a:off x="0" y="0"/>
          <a:ext cx="0" cy="0"/>
          <a:chOff x="0" y="0"/>
          <a:chExt cx="0" cy="0"/>
        </a:xfrm>
      </p:grpSpPr>
      <p:sp>
        <p:nvSpPr>
          <p:cNvPr id="2" name="Shape 0"/>
          <p:cNvSpPr/>
          <p:nvPr/>
        </p:nvSpPr>
        <p:spPr>
          <a:xfrm>
            <a:off x="6766560" y="-1463040"/>
            <a:ext cx="4206240" cy="4206240"/>
          </a:xfrm>
          <a:prstGeom prst="ellipse">
            <a:avLst/>
          </a:prstGeom>
          <a:solidFill>
            <a:srgbClr val="1E6B3A"/>
          </a:solidFill>
          <a:ln/>
        </p:spPr>
      </p:sp>
      <p:sp>
        <p:nvSpPr>
          <p:cNvPr id="3" name="Shape 1"/>
          <p:cNvSpPr/>
          <p:nvPr/>
        </p:nvSpPr>
        <p:spPr>
          <a:xfrm>
            <a:off x="7955280" y="3108960"/>
            <a:ext cx="2926080" cy="2926080"/>
          </a:xfrm>
          <a:prstGeom prst="ellipse">
            <a:avLst/>
          </a:prstGeom>
          <a:solidFill>
            <a:srgbClr val="1A4A2A"/>
          </a:solidFill>
          <a:ln/>
        </p:spPr>
      </p:sp>
      <p:sp>
        <p:nvSpPr>
          <p:cNvPr id="4" name="Text 2"/>
          <p:cNvSpPr/>
          <p:nvPr/>
        </p:nvSpPr>
        <p:spPr>
          <a:xfrm>
            <a:off x="640080" y="1051560"/>
            <a:ext cx="5486400" cy="365760"/>
          </a:xfrm>
          <a:prstGeom prst="rect">
            <a:avLst/>
          </a:prstGeom>
          <a:noFill/>
          <a:ln/>
        </p:spPr>
        <p:txBody>
          <a:bodyPr wrap="square" rtlCol="0" anchor="ctr"/>
          <a:lstStyle/>
          <a:p>
            <a:pPr indent="0" marL="0">
              <a:buNone/>
            </a:pPr>
            <a:r>
              <a:rPr lang="en-US" sz="1300" b="1" spc="400" kern="0" dirty="0">
                <a:solidFill>
                  <a:srgbClr val="C9A24B"/>
                </a:solidFill>
                <a:latin typeface="Meiryo" pitchFamily="34" charset="0"/>
                <a:ea typeface="Meiryo" pitchFamily="34" charset="-122"/>
                <a:cs typeface="Meiryo" pitchFamily="34" charset="-120"/>
              </a:rPr>
              <a:t>MONTHLY REPORT</a:t>
            </a:r>
            <a:endParaRPr lang="en-US" sz="1300" dirty="0"/>
          </a:p>
        </p:txBody>
      </p:sp>
      <p:sp>
        <p:nvSpPr>
          <p:cNvPr id="5" name="Text 3"/>
          <p:cNvSpPr/>
          <p:nvPr/>
        </p:nvSpPr>
        <p:spPr>
          <a:xfrm>
            <a:off x="621792" y="1417320"/>
            <a:ext cx="7315200" cy="914400"/>
          </a:xfrm>
          <a:prstGeom prst="rect">
            <a:avLst/>
          </a:prstGeom>
          <a:noFill/>
          <a:ln/>
        </p:spPr>
        <p:txBody>
          <a:bodyPr wrap="square" rtlCol="0" anchor="ctr"/>
          <a:lstStyle/>
          <a:p>
            <a:pPr indent="0" marL="0">
              <a:buNone/>
            </a:pPr>
            <a:r>
              <a:rPr lang="en-US" sz="5200" b="1" dirty="0">
                <a:solidFill>
                  <a:srgbClr val="FFFFFF"/>
                </a:solidFill>
                <a:latin typeface="Meiryo" pitchFamily="34" charset="0"/>
                <a:ea typeface="Meiryo" pitchFamily="34" charset="-122"/>
                <a:cs typeface="Meiryo" pitchFamily="34" charset="-120"/>
              </a:rPr>
              <a:t>GOLF WING</a:t>
            </a:r>
            <a:endParaRPr lang="en-US" sz="5200" dirty="0"/>
          </a:p>
        </p:txBody>
      </p:sp>
      <p:sp>
        <p:nvSpPr>
          <p:cNvPr id="6" name="Text 4"/>
          <p:cNvSpPr/>
          <p:nvPr/>
        </p:nvSpPr>
        <p:spPr>
          <a:xfrm>
            <a:off x="640080" y="2377440"/>
            <a:ext cx="7315200" cy="640080"/>
          </a:xfrm>
          <a:prstGeom prst="rect">
            <a:avLst/>
          </a:prstGeom>
          <a:noFill/>
          <a:ln/>
        </p:spPr>
        <p:txBody>
          <a:bodyPr wrap="square" rtlCol="0" anchor="ctr"/>
          <a:lstStyle/>
          <a:p>
            <a:pPr indent="0" marL="0">
              <a:buNone/>
            </a:pPr>
            <a:r>
              <a:rPr lang="en-US" sz="2600" dirty="0">
                <a:solidFill>
                  <a:srgbClr val="CFE0D3"/>
                </a:solidFill>
                <a:latin typeface="Meiryo" pitchFamily="34" charset="0"/>
                <a:ea typeface="Meiryo" pitchFamily="34" charset="-122"/>
                <a:cs typeface="Meiryo" pitchFamily="34" charset="-120"/>
              </a:rPr>
              <a:t>月次報告書</a:t>
            </a:r>
            <a:endParaRPr lang="en-US" sz="2600" dirty="0"/>
          </a:p>
        </p:txBody>
      </p:sp>
      <p:sp>
        <p:nvSpPr>
          <p:cNvPr id="7" name="Text 5"/>
          <p:cNvSpPr/>
          <p:nvPr/>
        </p:nvSpPr>
        <p:spPr>
          <a:xfrm>
            <a:off x="640080" y="3017520"/>
            <a:ext cx="7315200" cy="548640"/>
          </a:xfrm>
          <a:prstGeom prst="rect">
            <a:avLst/>
          </a:prstGeom>
          <a:noFill/>
          <a:ln/>
        </p:spPr>
        <p:txBody>
          <a:bodyPr wrap="square" rtlCol="0" anchor="ctr"/>
          <a:lstStyle/>
          <a:p>
            <a:pPr indent="0" marL="0">
              <a:buNone/>
            </a:pPr>
            <a:r>
              <a:rPr lang="en-US" sz="2200" b="1" dirty="0">
                <a:solidFill>
                  <a:srgbClr val="C9A24B"/>
                </a:solidFill>
                <a:latin typeface="Meiryo" pitchFamily="34" charset="0"/>
                <a:ea typeface="Meiryo" pitchFamily="34" charset="-122"/>
                <a:cs typeface="Meiryo" pitchFamily="34" charset="-120"/>
              </a:rPr>
              <a:t>2026年6月</a:t>
            </a:r>
            <a:endParaRPr lang="en-US" sz="2200" dirty="0"/>
          </a:p>
        </p:txBody>
      </p:sp>
      <p:sp>
        <p:nvSpPr>
          <p:cNvPr id="8" name="Shape 6"/>
          <p:cNvSpPr/>
          <p:nvPr/>
        </p:nvSpPr>
        <p:spPr>
          <a:xfrm>
            <a:off x="685800" y="4160520"/>
            <a:ext cx="2743200" cy="0"/>
          </a:xfrm>
          <a:prstGeom prst="line">
            <a:avLst/>
          </a:prstGeom>
          <a:noFill/>
          <a:ln w="19050">
            <a:solidFill>
              <a:srgbClr val="C9A24B"/>
            </a:solidFill>
            <a:prstDash val="solid"/>
          </a:ln>
        </p:spPr>
      </p:sp>
      <p:sp>
        <p:nvSpPr>
          <p:cNvPr id="9" name="Text 7"/>
          <p:cNvSpPr/>
          <p:nvPr/>
        </p:nvSpPr>
        <p:spPr>
          <a:xfrm>
            <a:off x="640080" y="4297680"/>
            <a:ext cx="7863840" cy="320040"/>
          </a:xfrm>
          <a:prstGeom prst="rect">
            <a:avLst/>
          </a:prstGeom>
          <a:noFill/>
          <a:ln/>
        </p:spPr>
        <p:txBody>
          <a:bodyPr wrap="square" rtlCol="0" anchor="ctr"/>
          <a:lstStyle/>
          <a:p>
            <a:pPr indent="0" marL="0">
              <a:buNone/>
            </a:pPr>
            <a:r>
              <a:rPr lang="en-US" sz="1200" dirty="0">
                <a:solidFill>
                  <a:srgbClr val="CFE0D3"/>
                </a:solidFill>
                <a:latin typeface="Meiryo" pitchFamily="34" charset="0"/>
                <a:ea typeface="Meiryo" pitchFamily="34" charset="-122"/>
                <a:cs typeface="Meiryo" pitchFamily="34" charset="-120"/>
              </a:rPr>
              <a:t>尼崎インドアゴルフ　</a:t>
            </a:r>
            <a:pPr indent="0" marL="0">
              <a:buNone/>
            </a:pPr>
            <a:r>
              <a:rPr lang="en-US" sz="1200" dirty="0">
                <a:solidFill>
                  <a:srgbClr val="CFE0D3"/>
                </a:solidFill>
                <a:latin typeface="Meiryo" pitchFamily="34" charset="0"/>
                <a:ea typeface="Meiryo" pitchFamily="34" charset="-122"/>
                <a:cs typeface="Meiryo" pitchFamily="34" charset="-120"/>
              </a:rPr>
              <a:t>株式会社YOZAN</a:t>
            </a:r>
            <a:endParaRPr lang="en-US" sz="1200" dirty="0"/>
          </a:p>
        </p:txBody>
      </p:sp>
      <p:sp>
        <p:nvSpPr>
          <p:cNvPr id="10" name="Text 8"/>
          <p:cNvSpPr/>
          <p:nvPr/>
        </p:nvSpPr>
        <p:spPr>
          <a:xfrm>
            <a:off x="640080" y="4617720"/>
            <a:ext cx="7863840" cy="320040"/>
          </a:xfrm>
          <a:prstGeom prst="rect">
            <a:avLst/>
          </a:prstGeom>
          <a:noFill/>
          <a:ln/>
        </p:spPr>
        <p:txBody>
          <a:bodyPr wrap="square" rtlCol="0" anchor="ctr"/>
          <a:lstStyle/>
          <a:p>
            <a:pPr indent="0" marL="0">
              <a:buNone/>
            </a:pPr>
            <a:r>
              <a:rPr lang="en-US" sz="1000" dirty="0">
                <a:solidFill>
                  <a:srgbClr val="8FA896"/>
                </a:solidFill>
                <a:latin typeface="Meiryo" pitchFamily="34" charset="0"/>
                <a:ea typeface="Meiryo" pitchFamily="34" charset="-122"/>
                <a:cs typeface="Meiryo" pitchFamily="34" charset="-120"/>
              </a:rPr>
              <a:t>作成: CEO AI 秘書 (YOZAN GENESIS)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498080" cy="548640"/>
          </a:xfrm>
          <a:prstGeom prst="rect">
            <a:avLst/>
          </a:prstGeom>
          <a:noFill/>
          <a:ln/>
        </p:spPr>
        <p:txBody>
          <a:bodyPr wrap="square" lIns="0" tIns="0" rIns="0" bIns="0" rtlCol="0" anchor="ctr"/>
          <a:lstStyle/>
          <a:p>
            <a:pPr indent="0" marL="0">
              <a:buNone/>
            </a:pPr>
            <a:r>
              <a:rPr lang="en-US" sz="2600" b="1" dirty="0">
                <a:solidFill>
                  <a:srgbClr val="1B2A20"/>
                </a:solidFill>
                <a:latin typeface="Meiryo" pitchFamily="34" charset="0"/>
                <a:ea typeface="Meiryo" pitchFamily="34" charset="-122"/>
                <a:cs typeface="Meiryo" pitchFamily="34" charset="-120"/>
              </a:rPr>
              <a:t>今月のサマリー</a:t>
            </a:r>
            <a:endParaRPr lang="en-US" sz="2600" dirty="0"/>
          </a:p>
        </p:txBody>
      </p:sp>
      <p:sp>
        <p:nvSpPr>
          <p:cNvPr id="3" name="Text 1"/>
          <p:cNvSpPr/>
          <p:nvPr/>
        </p:nvSpPr>
        <p:spPr>
          <a:xfrm>
            <a:off x="457200" y="822960"/>
            <a:ext cx="7315200" cy="274320"/>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GOLF WING　2026年6月</a:t>
            </a:r>
            <a:endParaRPr lang="en-US" sz="1100" dirty="0"/>
          </a:p>
        </p:txBody>
      </p:sp>
      <p:sp>
        <p:nvSpPr>
          <p:cNvPr id="4" name="Text 2"/>
          <p:cNvSpPr/>
          <p:nvPr/>
        </p:nvSpPr>
        <p:spPr>
          <a:xfrm>
            <a:off x="8229600" y="274320"/>
            <a:ext cx="548640" cy="548640"/>
          </a:xfrm>
          <a:prstGeom prst="rect">
            <a:avLst/>
          </a:prstGeom>
          <a:noFill/>
          <a:ln/>
        </p:spPr>
        <p:txBody>
          <a:bodyPr wrap="square" rtlCol="0" anchor="ctr"/>
          <a:lstStyle/>
          <a:p>
            <a:pPr algn="r" indent="0" marL="0">
              <a:buNone/>
            </a:pPr>
            <a:r>
              <a:rPr lang="en-US" sz="2400" b="1" dirty="0">
                <a:solidFill>
                  <a:srgbClr val="E7EFE8"/>
                </a:solidFill>
                <a:latin typeface="Meiryo" pitchFamily="34" charset="0"/>
                <a:ea typeface="Meiryo" pitchFamily="34" charset="-122"/>
                <a:cs typeface="Meiryo" pitchFamily="34" charset="-120"/>
              </a:rPr>
              <a:t>02</a:t>
            </a:r>
            <a:endParaRPr lang="en-US" sz="2400" dirty="0"/>
          </a:p>
        </p:txBody>
      </p:sp>
      <p:sp>
        <p:nvSpPr>
          <p:cNvPr id="5" name="Shape 3"/>
          <p:cNvSpPr/>
          <p:nvPr/>
        </p:nvSpPr>
        <p:spPr>
          <a:xfrm>
            <a:off x="457200" y="1325880"/>
            <a:ext cx="2590800" cy="1627632"/>
          </a:xfrm>
          <a:prstGeom prst="roundRect">
            <a:avLst>
              <a:gd name="adj" fmla="val 4494"/>
            </a:avLst>
          </a:prstGeom>
          <a:solidFill>
            <a:srgbClr val="F1F5F1"/>
          </a:solidFill>
          <a:ln/>
          <a:effectLst>
            <a:outerShdw sx="100000" sy="100000" kx="0" ky="0" algn="bl" rotWithShape="0" blurRad="88900" dist="25400" dir="5400000">
              <a:srgbClr val="000000">
                <a:alpha val="10000"/>
              </a:srgbClr>
            </a:outerShdw>
          </a:effectLst>
        </p:spPr>
      </p:sp>
      <p:sp>
        <p:nvSpPr>
          <p:cNvPr id="6" name="Text 4"/>
          <p:cNvSpPr/>
          <p:nvPr/>
        </p:nvSpPr>
        <p:spPr>
          <a:xfrm>
            <a:off x="658368" y="1472184"/>
            <a:ext cx="2225040" cy="274320"/>
          </a:xfrm>
          <a:prstGeom prst="rect">
            <a:avLst/>
          </a:prstGeom>
          <a:noFill/>
          <a:ln/>
        </p:spPr>
        <p:txBody>
          <a:bodyPr wrap="square" lIns="0" tIns="0" rIns="0" bIns="0" rtlCol="0" anchor="ctr"/>
          <a:lstStyle/>
          <a:p>
            <a:pPr indent="0" marL="0">
              <a:buNone/>
            </a:pPr>
            <a:r>
              <a:rPr lang="en-US" sz="1200" b="1" dirty="0">
                <a:solidFill>
                  <a:srgbClr val="6B7B70"/>
                </a:solidFill>
                <a:latin typeface="Meiryo" pitchFamily="34" charset="0"/>
                <a:ea typeface="Meiryo" pitchFamily="34" charset="-122"/>
                <a:cs typeface="Meiryo" pitchFamily="34" charset="-120"/>
              </a:rPr>
              <a:t>会員数（正会員）</a:t>
            </a:r>
            <a:endParaRPr lang="en-US" sz="1200" dirty="0"/>
          </a:p>
        </p:txBody>
      </p:sp>
      <p:sp>
        <p:nvSpPr>
          <p:cNvPr id="7" name="Text 5"/>
          <p:cNvSpPr/>
          <p:nvPr/>
        </p:nvSpPr>
        <p:spPr>
          <a:xfrm>
            <a:off x="640080" y="1728216"/>
            <a:ext cx="2225040" cy="548640"/>
          </a:xfrm>
          <a:prstGeom prst="rect">
            <a:avLst/>
          </a:prstGeom>
          <a:noFill/>
          <a:ln/>
        </p:spPr>
        <p:txBody>
          <a:bodyPr wrap="square" lIns="0" tIns="0" rIns="0" bIns="0" rtlCol="0" anchor="ctr"/>
          <a:lstStyle/>
          <a:p>
            <a:pPr indent="0" marL="0">
              <a:buNone/>
            </a:pPr>
            <a:r>
              <a:rPr lang="en-US" sz="3400" b="1" dirty="0">
                <a:solidFill>
                  <a:srgbClr val="1E6B3A"/>
                </a:solidFill>
                <a:latin typeface="Meiryo" pitchFamily="34" charset="0"/>
                <a:ea typeface="Meiryo" pitchFamily="34" charset="-122"/>
                <a:cs typeface="Meiryo" pitchFamily="34" charset="-120"/>
              </a:rPr>
              <a:t>210人</a:t>
            </a:r>
            <a:endParaRPr lang="en-US" sz="3400" dirty="0"/>
          </a:p>
        </p:txBody>
      </p:sp>
      <p:sp>
        <p:nvSpPr>
          <p:cNvPr id="8" name="Text 6"/>
          <p:cNvSpPr/>
          <p:nvPr/>
        </p:nvSpPr>
        <p:spPr>
          <a:xfrm>
            <a:off x="658368" y="2368296"/>
            <a:ext cx="2225040" cy="256032"/>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前月比 </a:t>
            </a:r>
            <a:pPr indent="0" marL="0">
              <a:buNone/>
            </a:pPr>
            <a:r>
              <a:rPr lang="en-US" sz="1100" b="1" dirty="0">
                <a:solidFill>
                  <a:srgbClr val="1E6B3A"/>
                </a:solidFill>
                <a:latin typeface="Meiryo" pitchFamily="34" charset="0"/>
                <a:ea typeface="Meiryo" pitchFamily="34" charset="-122"/>
                <a:cs typeface="Meiryo" pitchFamily="34" charset="-120"/>
              </a:rPr>
              <a:t>+7人 (+3.4%)</a:t>
            </a:r>
            <a:endParaRPr lang="en-US" sz="1100" dirty="0"/>
          </a:p>
        </p:txBody>
      </p:sp>
      <p:sp>
        <p:nvSpPr>
          <p:cNvPr id="9" name="Text 7"/>
          <p:cNvSpPr/>
          <p:nvPr/>
        </p:nvSpPr>
        <p:spPr>
          <a:xfrm>
            <a:off x="658368" y="2624328"/>
            <a:ext cx="2225040" cy="256032"/>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前年比 </a:t>
            </a:r>
            <a:pPr indent="0" marL="0">
              <a:buNone/>
            </a:pPr>
            <a:r>
              <a:rPr lang="en-US" sz="1100" b="1" dirty="0">
                <a:solidFill>
                  <a:srgbClr val="6B7B70"/>
                </a:solidFill>
                <a:latin typeface="Meiryo" pitchFamily="34" charset="0"/>
                <a:ea typeface="Meiryo" pitchFamily="34" charset="-122"/>
                <a:cs typeface="Meiryo" pitchFamily="34" charset="-120"/>
              </a:rPr>
              <a:t>—</a:t>
            </a:r>
            <a:endParaRPr lang="en-US" sz="1100" dirty="0"/>
          </a:p>
        </p:txBody>
      </p:sp>
      <p:sp>
        <p:nvSpPr>
          <p:cNvPr id="10" name="Shape 8"/>
          <p:cNvSpPr/>
          <p:nvPr/>
        </p:nvSpPr>
        <p:spPr>
          <a:xfrm>
            <a:off x="3276600" y="1325880"/>
            <a:ext cx="2590800" cy="1627632"/>
          </a:xfrm>
          <a:prstGeom prst="roundRect">
            <a:avLst>
              <a:gd name="adj" fmla="val 4494"/>
            </a:avLst>
          </a:prstGeom>
          <a:solidFill>
            <a:srgbClr val="F1F5F1"/>
          </a:solidFill>
          <a:ln/>
          <a:effectLst>
            <a:outerShdw sx="100000" sy="100000" kx="0" ky="0" algn="bl" rotWithShape="0" blurRad="88900" dist="25400" dir="5400000">
              <a:srgbClr val="000000">
                <a:alpha val="10000"/>
              </a:srgbClr>
            </a:outerShdw>
          </a:effectLst>
        </p:spPr>
      </p:sp>
      <p:sp>
        <p:nvSpPr>
          <p:cNvPr id="11" name="Text 9"/>
          <p:cNvSpPr/>
          <p:nvPr/>
        </p:nvSpPr>
        <p:spPr>
          <a:xfrm>
            <a:off x="3477768" y="1472184"/>
            <a:ext cx="2225040" cy="274320"/>
          </a:xfrm>
          <a:prstGeom prst="rect">
            <a:avLst/>
          </a:prstGeom>
          <a:noFill/>
          <a:ln/>
        </p:spPr>
        <p:txBody>
          <a:bodyPr wrap="square" lIns="0" tIns="0" rIns="0" bIns="0" rtlCol="0" anchor="ctr"/>
          <a:lstStyle/>
          <a:p>
            <a:pPr indent="0" marL="0">
              <a:buNone/>
            </a:pPr>
            <a:r>
              <a:rPr lang="en-US" sz="1200" b="1" dirty="0">
                <a:solidFill>
                  <a:srgbClr val="6B7B70"/>
                </a:solidFill>
                <a:latin typeface="Meiryo" pitchFamily="34" charset="0"/>
                <a:ea typeface="Meiryo" pitchFamily="34" charset="-122"/>
                <a:cs typeface="Meiryo" pitchFamily="34" charset="-120"/>
              </a:rPr>
              <a:t>体験予約数</a:t>
            </a:r>
            <a:endParaRPr lang="en-US" sz="1200" dirty="0"/>
          </a:p>
        </p:txBody>
      </p:sp>
      <p:sp>
        <p:nvSpPr>
          <p:cNvPr id="12" name="Text 10"/>
          <p:cNvSpPr/>
          <p:nvPr/>
        </p:nvSpPr>
        <p:spPr>
          <a:xfrm>
            <a:off x="3459480" y="1728216"/>
            <a:ext cx="2225040" cy="548640"/>
          </a:xfrm>
          <a:prstGeom prst="rect">
            <a:avLst/>
          </a:prstGeom>
          <a:noFill/>
          <a:ln/>
        </p:spPr>
        <p:txBody>
          <a:bodyPr wrap="square" lIns="0" tIns="0" rIns="0" bIns="0" rtlCol="0" anchor="ctr"/>
          <a:lstStyle/>
          <a:p>
            <a:pPr indent="0" marL="0">
              <a:buNone/>
            </a:pPr>
            <a:r>
              <a:rPr lang="en-US" sz="3400" b="1" dirty="0">
                <a:solidFill>
                  <a:srgbClr val="1E6B3A"/>
                </a:solidFill>
                <a:latin typeface="Meiryo" pitchFamily="34" charset="0"/>
                <a:ea typeface="Meiryo" pitchFamily="34" charset="-122"/>
                <a:cs typeface="Meiryo" pitchFamily="34" charset="-120"/>
              </a:rPr>
              <a:t>37件</a:t>
            </a:r>
            <a:endParaRPr lang="en-US" sz="3400" dirty="0"/>
          </a:p>
        </p:txBody>
      </p:sp>
      <p:sp>
        <p:nvSpPr>
          <p:cNvPr id="13" name="Text 11"/>
          <p:cNvSpPr/>
          <p:nvPr/>
        </p:nvSpPr>
        <p:spPr>
          <a:xfrm>
            <a:off x="3477768" y="2368296"/>
            <a:ext cx="2225040" cy="256032"/>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前月比 </a:t>
            </a:r>
            <a:pPr indent="0" marL="0">
              <a:buNone/>
            </a:pPr>
            <a:r>
              <a:rPr lang="en-US" sz="1100" b="1" dirty="0">
                <a:solidFill>
                  <a:srgbClr val="1E6B3A"/>
                </a:solidFill>
                <a:latin typeface="Meiryo" pitchFamily="34" charset="0"/>
                <a:ea typeface="Meiryo" pitchFamily="34" charset="-122"/>
                <a:cs typeface="Meiryo" pitchFamily="34" charset="-120"/>
              </a:rPr>
              <a:t>+6件 (+19.4%)</a:t>
            </a:r>
            <a:endParaRPr lang="en-US" sz="1100" dirty="0"/>
          </a:p>
        </p:txBody>
      </p:sp>
      <p:sp>
        <p:nvSpPr>
          <p:cNvPr id="14" name="Text 12"/>
          <p:cNvSpPr/>
          <p:nvPr/>
        </p:nvSpPr>
        <p:spPr>
          <a:xfrm>
            <a:off x="3477768" y="2624328"/>
            <a:ext cx="2225040" cy="256032"/>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前年比 </a:t>
            </a:r>
            <a:pPr indent="0" marL="0">
              <a:buNone/>
            </a:pPr>
            <a:r>
              <a:rPr lang="en-US" sz="1100" b="1" dirty="0">
                <a:solidFill>
                  <a:srgbClr val="1E6B3A"/>
                </a:solidFill>
                <a:latin typeface="Meiryo" pitchFamily="34" charset="0"/>
                <a:ea typeface="Meiryo" pitchFamily="34" charset="-122"/>
                <a:cs typeface="Meiryo" pitchFamily="34" charset="-120"/>
              </a:rPr>
              <a:t>+13件 (+54.2%)</a:t>
            </a:r>
            <a:endParaRPr lang="en-US" sz="1100" dirty="0"/>
          </a:p>
        </p:txBody>
      </p:sp>
      <p:sp>
        <p:nvSpPr>
          <p:cNvPr id="15" name="Shape 13"/>
          <p:cNvSpPr/>
          <p:nvPr/>
        </p:nvSpPr>
        <p:spPr>
          <a:xfrm>
            <a:off x="6096000" y="1325880"/>
            <a:ext cx="2590800" cy="1627632"/>
          </a:xfrm>
          <a:prstGeom prst="roundRect">
            <a:avLst>
              <a:gd name="adj" fmla="val 4494"/>
            </a:avLst>
          </a:prstGeom>
          <a:solidFill>
            <a:srgbClr val="F1F5F1"/>
          </a:solidFill>
          <a:ln/>
          <a:effectLst>
            <a:outerShdw sx="100000" sy="100000" kx="0" ky="0" algn="bl" rotWithShape="0" blurRad="88900" dist="25400" dir="5400000">
              <a:srgbClr val="000000">
                <a:alpha val="10000"/>
              </a:srgbClr>
            </a:outerShdw>
          </a:effectLst>
        </p:spPr>
      </p:sp>
      <p:sp>
        <p:nvSpPr>
          <p:cNvPr id="16" name="Text 14"/>
          <p:cNvSpPr/>
          <p:nvPr/>
        </p:nvSpPr>
        <p:spPr>
          <a:xfrm>
            <a:off x="6297168" y="1472184"/>
            <a:ext cx="2225040" cy="274320"/>
          </a:xfrm>
          <a:prstGeom prst="rect">
            <a:avLst/>
          </a:prstGeom>
          <a:noFill/>
          <a:ln/>
        </p:spPr>
        <p:txBody>
          <a:bodyPr wrap="square" lIns="0" tIns="0" rIns="0" bIns="0" rtlCol="0" anchor="ctr"/>
          <a:lstStyle/>
          <a:p>
            <a:pPr indent="0" marL="0">
              <a:buNone/>
            </a:pPr>
            <a:r>
              <a:rPr lang="en-US" sz="1200" b="1" dirty="0">
                <a:solidFill>
                  <a:srgbClr val="6B7B70"/>
                </a:solidFill>
                <a:latin typeface="Meiryo" pitchFamily="34" charset="0"/>
                <a:ea typeface="Meiryo" pitchFamily="34" charset="-122"/>
                <a:cs typeface="Meiryo" pitchFamily="34" charset="-120"/>
              </a:rPr>
              <a:t>入会率</a:t>
            </a:r>
            <a:endParaRPr lang="en-US" sz="1200" dirty="0"/>
          </a:p>
        </p:txBody>
      </p:sp>
      <p:sp>
        <p:nvSpPr>
          <p:cNvPr id="17" name="Text 15"/>
          <p:cNvSpPr/>
          <p:nvPr/>
        </p:nvSpPr>
        <p:spPr>
          <a:xfrm>
            <a:off x="6278880" y="1728216"/>
            <a:ext cx="2225040" cy="548640"/>
          </a:xfrm>
          <a:prstGeom prst="rect">
            <a:avLst/>
          </a:prstGeom>
          <a:noFill/>
          <a:ln/>
        </p:spPr>
        <p:txBody>
          <a:bodyPr wrap="square" lIns="0" tIns="0" rIns="0" bIns="0" rtlCol="0" anchor="ctr"/>
          <a:lstStyle/>
          <a:p>
            <a:pPr indent="0" marL="0">
              <a:buNone/>
            </a:pPr>
            <a:r>
              <a:rPr lang="en-US" sz="3400" b="1" dirty="0">
                <a:solidFill>
                  <a:srgbClr val="1E6B3A"/>
                </a:solidFill>
                <a:latin typeface="Meiryo" pitchFamily="34" charset="0"/>
                <a:ea typeface="Meiryo" pitchFamily="34" charset="-122"/>
                <a:cs typeface="Meiryo" pitchFamily="34" charset="-120"/>
              </a:rPr>
              <a:t>62.5%</a:t>
            </a:r>
            <a:endParaRPr lang="en-US" sz="3400" dirty="0"/>
          </a:p>
        </p:txBody>
      </p:sp>
      <p:sp>
        <p:nvSpPr>
          <p:cNvPr id="18" name="Text 16"/>
          <p:cNvSpPr/>
          <p:nvPr/>
        </p:nvSpPr>
        <p:spPr>
          <a:xfrm>
            <a:off x="6297168" y="2368296"/>
            <a:ext cx="2225040" cy="256032"/>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前月比 </a:t>
            </a:r>
            <a:pPr indent="0" marL="0">
              <a:buNone/>
            </a:pPr>
            <a:r>
              <a:rPr lang="en-US" sz="1100" b="1" dirty="0">
                <a:solidFill>
                  <a:srgbClr val="1E6B3A"/>
                </a:solidFill>
                <a:latin typeface="Meiryo" pitchFamily="34" charset="0"/>
                <a:ea typeface="Meiryo" pitchFamily="34" charset="-122"/>
                <a:cs typeface="Meiryo" pitchFamily="34" charset="-120"/>
              </a:rPr>
              <a:t>+7.5pt (+13.6%)</a:t>
            </a:r>
            <a:endParaRPr lang="en-US" sz="1100" dirty="0"/>
          </a:p>
        </p:txBody>
      </p:sp>
      <p:sp>
        <p:nvSpPr>
          <p:cNvPr id="19" name="Text 17"/>
          <p:cNvSpPr/>
          <p:nvPr/>
        </p:nvSpPr>
        <p:spPr>
          <a:xfrm>
            <a:off x="6297168" y="2624328"/>
            <a:ext cx="2225040" cy="256032"/>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前年比 </a:t>
            </a:r>
            <a:pPr indent="0" marL="0">
              <a:buNone/>
            </a:pPr>
            <a:r>
              <a:rPr lang="en-US" sz="1100" b="1" dirty="0">
                <a:solidFill>
                  <a:srgbClr val="1E6B3A"/>
                </a:solidFill>
                <a:latin typeface="Meiryo" pitchFamily="34" charset="0"/>
                <a:ea typeface="Meiryo" pitchFamily="34" charset="-122"/>
                <a:cs typeface="Meiryo" pitchFamily="34" charset="-120"/>
              </a:rPr>
              <a:t>+14.5pt (+30.2%)</a:t>
            </a:r>
            <a:endParaRPr lang="en-US" sz="1100" dirty="0"/>
          </a:p>
        </p:txBody>
      </p:sp>
      <p:sp>
        <p:nvSpPr>
          <p:cNvPr id="20" name="Shape 18"/>
          <p:cNvSpPr/>
          <p:nvPr/>
        </p:nvSpPr>
        <p:spPr>
          <a:xfrm>
            <a:off x="457200" y="3154680"/>
            <a:ext cx="2590800" cy="1627632"/>
          </a:xfrm>
          <a:prstGeom prst="roundRect">
            <a:avLst>
              <a:gd name="adj" fmla="val 4494"/>
            </a:avLst>
          </a:prstGeom>
          <a:solidFill>
            <a:srgbClr val="F1F5F1"/>
          </a:solidFill>
          <a:ln/>
          <a:effectLst>
            <a:outerShdw sx="100000" sy="100000" kx="0" ky="0" algn="bl" rotWithShape="0" blurRad="88900" dist="25400" dir="5400000">
              <a:srgbClr val="000000">
                <a:alpha val="10000"/>
              </a:srgbClr>
            </a:outerShdw>
          </a:effectLst>
        </p:spPr>
      </p:sp>
      <p:sp>
        <p:nvSpPr>
          <p:cNvPr id="21" name="Text 19"/>
          <p:cNvSpPr/>
          <p:nvPr/>
        </p:nvSpPr>
        <p:spPr>
          <a:xfrm>
            <a:off x="658368" y="3300984"/>
            <a:ext cx="2225040" cy="274320"/>
          </a:xfrm>
          <a:prstGeom prst="rect">
            <a:avLst/>
          </a:prstGeom>
          <a:noFill/>
          <a:ln/>
        </p:spPr>
        <p:txBody>
          <a:bodyPr wrap="square" lIns="0" tIns="0" rIns="0" bIns="0" rtlCol="0" anchor="ctr"/>
          <a:lstStyle/>
          <a:p>
            <a:pPr indent="0" marL="0">
              <a:buNone/>
            </a:pPr>
            <a:r>
              <a:rPr lang="en-US" sz="1200" b="1" dirty="0">
                <a:solidFill>
                  <a:srgbClr val="6B7B70"/>
                </a:solidFill>
                <a:latin typeface="Meiryo" pitchFamily="34" charset="0"/>
                <a:ea typeface="Meiryo" pitchFamily="34" charset="-122"/>
                <a:cs typeface="Meiryo" pitchFamily="34" charset="-120"/>
              </a:rPr>
              <a:t>退会率</a:t>
            </a:r>
            <a:endParaRPr lang="en-US" sz="1200" dirty="0"/>
          </a:p>
        </p:txBody>
      </p:sp>
      <p:sp>
        <p:nvSpPr>
          <p:cNvPr id="22" name="Text 20"/>
          <p:cNvSpPr/>
          <p:nvPr/>
        </p:nvSpPr>
        <p:spPr>
          <a:xfrm>
            <a:off x="640080" y="3557016"/>
            <a:ext cx="2225040" cy="548640"/>
          </a:xfrm>
          <a:prstGeom prst="rect">
            <a:avLst/>
          </a:prstGeom>
          <a:noFill/>
          <a:ln/>
        </p:spPr>
        <p:txBody>
          <a:bodyPr wrap="square" lIns="0" tIns="0" rIns="0" bIns="0" rtlCol="0" anchor="ctr"/>
          <a:lstStyle/>
          <a:p>
            <a:pPr indent="0" marL="0">
              <a:buNone/>
            </a:pPr>
            <a:r>
              <a:rPr lang="en-US" sz="3400" b="1" dirty="0">
                <a:solidFill>
                  <a:srgbClr val="1E6B3A"/>
                </a:solidFill>
                <a:latin typeface="Meiryo" pitchFamily="34" charset="0"/>
                <a:ea typeface="Meiryo" pitchFamily="34" charset="-122"/>
                <a:cs typeface="Meiryo" pitchFamily="34" charset="-120"/>
              </a:rPr>
              <a:t>0%</a:t>
            </a:r>
            <a:endParaRPr lang="en-US" sz="3400" dirty="0"/>
          </a:p>
        </p:txBody>
      </p:sp>
      <p:sp>
        <p:nvSpPr>
          <p:cNvPr id="23" name="Text 21"/>
          <p:cNvSpPr/>
          <p:nvPr/>
        </p:nvSpPr>
        <p:spPr>
          <a:xfrm>
            <a:off x="658368" y="4197096"/>
            <a:ext cx="2225040" cy="256032"/>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前月比 </a:t>
            </a:r>
            <a:pPr indent="0" marL="0">
              <a:buNone/>
            </a:pPr>
            <a:r>
              <a:rPr lang="en-US" sz="1100" b="1" dirty="0">
                <a:solidFill>
                  <a:srgbClr val="1E6B3A"/>
                </a:solidFill>
                <a:latin typeface="Meiryo" pitchFamily="34" charset="0"/>
                <a:ea typeface="Meiryo" pitchFamily="34" charset="-122"/>
                <a:cs typeface="Meiryo" pitchFamily="34" charset="-120"/>
              </a:rPr>
              <a:t>-3.5pt (-100%)</a:t>
            </a:r>
            <a:endParaRPr lang="en-US" sz="1100" dirty="0"/>
          </a:p>
        </p:txBody>
      </p:sp>
      <p:sp>
        <p:nvSpPr>
          <p:cNvPr id="24" name="Text 22"/>
          <p:cNvSpPr/>
          <p:nvPr/>
        </p:nvSpPr>
        <p:spPr>
          <a:xfrm>
            <a:off x="658368" y="4453128"/>
            <a:ext cx="2225040" cy="256032"/>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前年比 </a:t>
            </a:r>
            <a:pPr indent="0" marL="0">
              <a:buNone/>
            </a:pPr>
            <a:r>
              <a:rPr lang="en-US" sz="1100" b="1" dirty="0">
                <a:solidFill>
                  <a:srgbClr val="1E6B3A"/>
                </a:solidFill>
                <a:latin typeface="Meiryo" pitchFamily="34" charset="0"/>
                <a:ea typeface="Meiryo" pitchFamily="34" charset="-122"/>
                <a:cs typeface="Meiryo" pitchFamily="34" charset="-120"/>
              </a:rPr>
              <a:t>-3.9pt (-100%)</a:t>
            </a:r>
            <a:endParaRPr lang="en-US" sz="1100" dirty="0"/>
          </a:p>
        </p:txBody>
      </p:sp>
      <p:sp>
        <p:nvSpPr>
          <p:cNvPr id="25" name="Shape 23"/>
          <p:cNvSpPr/>
          <p:nvPr/>
        </p:nvSpPr>
        <p:spPr>
          <a:xfrm>
            <a:off x="3276600" y="3154680"/>
            <a:ext cx="2590800" cy="1627632"/>
          </a:xfrm>
          <a:prstGeom prst="roundRect">
            <a:avLst>
              <a:gd name="adj" fmla="val 4494"/>
            </a:avLst>
          </a:prstGeom>
          <a:solidFill>
            <a:srgbClr val="F1F5F1"/>
          </a:solidFill>
          <a:ln/>
          <a:effectLst>
            <a:outerShdw sx="100000" sy="100000" kx="0" ky="0" algn="bl" rotWithShape="0" blurRad="88900" dist="25400" dir="5400000">
              <a:srgbClr val="000000">
                <a:alpha val="10000"/>
              </a:srgbClr>
            </a:outerShdw>
          </a:effectLst>
        </p:spPr>
      </p:sp>
      <p:sp>
        <p:nvSpPr>
          <p:cNvPr id="26" name="Text 24"/>
          <p:cNvSpPr/>
          <p:nvPr/>
        </p:nvSpPr>
        <p:spPr>
          <a:xfrm>
            <a:off x="3477768" y="3300984"/>
            <a:ext cx="2225040" cy="274320"/>
          </a:xfrm>
          <a:prstGeom prst="rect">
            <a:avLst/>
          </a:prstGeom>
          <a:noFill/>
          <a:ln/>
        </p:spPr>
        <p:txBody>
          <a:bodyPr wrap="square" lIns="0" tIns="0" rIns="0" bIns="0" rtlCol="0" anchor="ctr"/>
          <a:lstStyle/>
          <a:p>
            <a:pPr indent="0" marL="0">
              <a:buNone/>
            </a:pPr>
            <a:r>
              <a:rPr lang="en-US" sz="1200" b="1" dirty="0">
                <a:solidFill>
                  <a:srgbClr val="6B7B70"/>
                </a:solidFill>
                <a:latin typeface="Meiryo" pitchFamily="34" charset="0"/>
                <a:ea typeface="Meiryo" pitchFamily="34" charset="-122"/>
                <a:cs typeface="Meiryo" pitchFamily="34" charset="-120"/>
              </a:rPr>
              <a:t>物販売上</a:t>
            </a:r>
            <a:endParaRPr lang="en-US" sz="1200" dirty="0"/>
          </a:p>
        </p:txBody>
      </p:sp>
      <p:sp>
        <p:nvSpPr>
          <p:cNvPr id="27" name="Text 25"/>
          <p:cNvSpPr/>
          <p:nvPr/>
        </p:nvSpPr>
        <p:spPr>
          <a:xfrm>
            <a:off x="3459480" y="3557016"/>
            <a:ext cx="2225040" cy="548640"/>
          </a:xfrm>
          <a:prstGeom prst="rect">
            <a:avLst/>
          </a:prstGeom>
          <a:noFill/>
          <a:ln/>
        </p:spPr>
        <p:txBody>
          <a:bodyPr wrap="square" lIns="0" tIns="0" rIns="0" bIns="0" rtlCol="0" anchor="ctr"/>
          <a:lstStyle/>
          <a:p>
            <a:pPr indent="0" marL="0">
              <a:buNone/>
            </a:pPr>
            <a:r>
              <a:rPr lang="en-US" sz="2600" b="1" dirty="0">
                <a:solidFill>
                  <a:srgbClr val="1E6B3A"/>
                </a:solidFill>
                <a:latin typeface="Meiryo" pitchFamily="34" charset="0"/>
                <a:ea typeface="Meiryo" pitchFamily="34" charset="-122"/>
                <a:cs typeface="Meiryo" pitchFamily="34" charset="-120"/>
              </a:rPr>
              <a:t>¥842,000</a:t>
            </a:r>
            <a:endParaRPr lang="en-US" sz="2600" dirty="0"/>
          </a:p>
        </p:txBody>
      </p:sp>
      <p:sp>
        <p:nvSpPr>
          <p:cNvPr id="28" name="Text 26"/>
          <p:cNvSpPr/>
          <p:nvPr/>
        </p:nvSpPr>
        <p:spPr>
          <a:xfrm>
            <a:off x="3477768" y="4197096"/>
            <a:ext cx="2225040" cy="256032"/>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前月比 </a:t>
            </a:r>
            <a:pPr indent="0" marL="0">
              <a:buNone/>
            </a:pPr>
            <a:r>
              <a:rPr lang="en-US" sz="1100" b="1" dirty="0">
                <a:solidFill>
                  <a:srgbClr val="1E6B3A"/>
                </a:solidFill>
                <a:latin typeface="Meiryo" pitchFamily="34" charset="0"/>
                <a:ea typeface="Meiryo" pitchFamily="34" charset="-122"/>
                <a:cs typeface="Meiryo" pitchFamily="34" charset="-120"/>
              </a:rPr>
              <a:t>+127,000円 (+17.8%)</a:t>
            </a:r>
            <a:endParaRPr lang="en-US" sz="1100" dirty="0"/>
          </a:p>
        </p:txBody>
      </p:sp>
      <p:sp>
        <p:nvSpPr>
          <p:cNvPr id="29" name="Text 27"/>
          <p:cNvSpPr/>
          <p:nvPr/>
        </p:nvSpPr>
        <p:spPr>
          <a:xfrm>
            <a:off x="3477768" y="4453128"/>
            <a:ext cx="2225040" cy="256032"/>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前年比 </a:t>
            </a:r>
            <a:pPr indent="0" marL="0">
              <a:buNone/>
            </a:pPr>
            <a:r>
              <a:rPr lang="en-US" sz="1100" b="1" dirty="0">
                <a:solidFill>
                  <a:srgbClr val="1E6B3A"/>
                </a:solidFill>
                <a:latin typeface="Meiryo" pitchFamily="34" charset="0"/>
                <a:ea typeface="Meiryo" pitchFamily="34" charset="-122"/>
                <a:cs typeface="Meiryo" pitchFamily="34" charset="-120"/>
              </a:rPr>
              <a:t>+152,000円 (+22%)</a:t>
            </a:r>
            <a:endParaRPr lang="en-US" sz="1100" dirty="0"/>
          </a:p>
        </p:txBody>
      </p:sp>
      <p:sp>
        <p:nvSpPr>
          <p:cNvPr id="30" name="Shape 28"/>
          <p:cNvSpPr/>
          <p:nvPr/>
        </p:nvSpPr>
        <p:spPr>
          <a:xfrm>
            <a:off x="6096000" y="3154680"/>
            <a:ext cx="2590800" cy="1627632"/>
          </a:xfrm>
          <a:prstGeom prst="roundRect">
            <a:avLst>
              <a:gd name="adj" fmla="val 4494"/>
            </a:avLst>
          </a:prstGeom>
          <a:solidFill>
            <a:srgbClr val="F1F5F1"/>
          </a:solidFill>
          <a:ln/>
          <a:effectLst>
            <a:outerShdw sx="100000" sy="100000" kx="0" ky="0" algn="bl" rotWithShape="0" blurRad="88900" dist="25400" dir="5400000">
              <a:srgbClr val="000000">
                <a:alpha val="10000"/>
              </a:srgbClr>
            </a:outerShdw>
          </a:effectLst>
        </p:spPr>
      </p:sp>
      <p:sp>
        <p:nvSpPr>
          <p:cNvPr id="31" name="Text 29"/>
          <p:cNvSpPr/>
          <p:nvPr/>
        </p:nvSpPr>
        <p:spPr>
          <a:xfrm>
            <a:off x="6297168" y="3300984"/>
            <a:ext cx="2225040" cy="274320"/>
          </a:xfrm>
          <a:prstGeom prst="rect">
            <a:avLst/>
          </a:prstGeom>
          <a:noFill/>
          <a:ln/>
        </p:spPr>
        <p:txBody>
          <a:bodyPr wrap="square" lIns="0" tIns="0" rIns="0" bIns="0" rtlCol="0" anchor="ctr"/>
          <a:lstStyle/>
          <a:p>
            <a:pPr indent="0" marL="0">
              <a:buNone/>
            </a:pPr>
            <a:r>
              <a:rPr lang="en-US" sz="1200" b="1" dirty="0">
                <a:solidFill>
                  <a:srgbClr val="6B7B70"/>
                </a:solidFill>
                <a:latin typeface="Meiryo" pitchFamily="34" charset="0"/>
                <a:ea typeface="Meiryo" pitchFamily="34" charset="-122"/>
                <a:cs typeface="Meiryo" pitchFamily="34" charset="-120"/>
              </a:rPr>
              <a:t>フィッティング</a:t>
            </a:r>
            <a:endParaRPr lang="en-US" sz="1200" dirty="0"/>
          </a:p>
        </p:txBody>
      </p:sp>
      <p:sp>
        <p:nvSpPr>
          <p:cNvPr id="32" name="Text 30"/>
          <p:cNvSpPr/>
          <p:nvPr/>
        </p:nvSpPr>
        <p:spPr>
          <a:xfrm>
            <a:off x="6278880" y="3557016"/>
            <a:ext cx="2225040" cy="548640"/>
          </a:xfrm>
          <a:prstGeom prst="rect">
            <a:avLst/>
          </a:prstGeom>
          <a:noFill/>
          <a:ln/>
        </p:spPr>
        <p:txBody>
          <a:bodyPr wrap="square" lIns="0" tIns="0" rIns="0" bIns="0" rtlCol="0" anchor="ctr"/>
          <a:lstStyle/>
          <a:p>
            <a:pPr indent="0" marL="0">
              <a:buNone/>
            </a:pPr>
            <a:r>
              <a:rPr lang="en-US" sz="3400" b="1" dirty="0">
                <a:solidFill>
                  <a:srgbClr val="1E6B3A"/>
                </a:solidFill>
                <a:latin typeface="Meiryo" pitchFamily="34" charset="0"/>
                <a:ea typeface="Meiryo" pitchFamily="34" charset="-122"/>
                <a:cs typeface="Meiryo" pitchFamily="34" charset="-120"/>
              </a:rPr>
              <a:t>14件</a:t>
            </a:r>
            <a:endParaRPr lang="en-US" sz="3400" dirty="0"/>
          </a:p>
        </p:txBody>
      </p:sp>
      <p:sp>
        <p:nvSpPr>
          <p:cNvPr id="33" name="Text 31"/>
          <p:cNvSpPr/>
          <p:nvPr/>
        </p:nvSpPr>
        <p:spPr>
          <a:xfrm>
            <a:off x="6297168" y="4197096"/>
            <a:ext cx="2225040" cy="256032"/>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前月比 </a:t>
            </a:r>
            <a:pPr indent="0" marL="0">
              <a:buNone/>
            </a:pPr>
            <a:r>
              <a:rPr lang="en-US" sz="1100" b="1" dirty="0">
                <a:solidFill>
                  <a:srgbClr val="1E6B3A"/>
                </a:solidFill>
                <a:latin typeface="Meiryo" pitchFamily="34" charset="0"/>
                <a:ea typeface="Meiryo" pitchFamily="34" charset="-122"/>
                <a:cs typeface="Meiryo" pitchFamily="34" charset="-120"/>
              </a:rPr>
              <a:t>+3件 (+27.3%)</a:t>
            </a:r>
            <a:endParaRPr lang="en-US" sz="1100" dirty="0"/>
          </a:p>
        </p:txBody>
      </p:sp>
      <p:sp>
        <p:nvSpPr>
          <p:cNvPr id="34" name="Text 32"/>
          <p:cNvSpPr/>
          <p:nvPr/>
        </p:nvSpPr>
        <p:spPr>
          <a:xfrm>
            <a:off x="6297168" y="4453128"/>
            <a:ext cx="2225040" cy="256032"/>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前年比 </a:t>
            </a:r>
            <a:pPr indent="0" marL="0">
              <a:buNone/>
            </a:pPr>
            <a:r>
              <a:rPr lang="en-US" sz="1100" b="1" dirty="0">
                <a:solidFill>
                  <a:srgbClr val="1E6B3A"/>
                </a:solidFill>
                <a:latin typeface="Meiryo" pitchFamily="34" charset="0"/>
                <a:ea typeface="Meiryo" pitchFamily="34" charset="-122"/>
                <a:cs typeface="Meiryo" pitchFamily="34" charset="-120"/>
              </a:rPr>
              <a:t>+5件 (+55.6%)</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498080" cy="548640"/>
          </a:xfrm>
          <a:prstGeom prst="rect">
            <a:avLst/>
          </a:prstGeom>
          <a:noFill/>
          <a:ln/>
        </p:spPr>
        <p:txBody>
          <a:bodyPr wrap="square" lIns="0" tIns="0" rIns="0" bIns="0" rtlCol="0" anchor="ctr"/>
          <a:lstStyle/>
          <a:p>
            <a:pPr indent="0" marL="0">
              <a:buNone/>
            </a:pPr>
            <a:r>
              <a:rPr lang="en-US" sz="2600" b="1" dirty="0">
                <a:solidFill>
                  <a:srgbClr val="1B2A20"/>
                </a:solidFill>
                <a:latin typeface="Meiryo" pitchFamily="34" charset="0"/>
                <a:ea typeface="Meiryo" pitchFamily="34" charset="-122"/>
                <a:cs typeface="Meiryo" pitchFamily="34" charset="-120"/>
              </a:rPr>
              <a:t>会員数の推移</a:t>
            </a:r>
            <a:endParaRPr lang="en-US" sz="2600" dirty="0"/>
          </a:p>
        </p:txBody>
      </p:sp>
      <p:sp>
        <p:nvSpPr>
          <p:cNvPr id="3" name="Text 1"/>
          <p:cNvSpPr/>
          <p:nvPr/>
        </p:nvSpPr>
        <p:spPr>
          <a:xfrm>
            <a:off x="457200" y="822960"/>
            <a:ext cx="7315200" cy="274320"/>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GOLF WING　2026年6月</a:t>
            </a:r>
            <a:endParaRPr lang="en-US" sz="1100" dirty="0"/>
          </a:p>
        </p:txBody>
      </p:sp>
      <p:sp>
        <p:nvSpPr>
          <p:cNvPr id="4" name="Text 2"/>
          <p:cNvSpPr/>
          <p:nvPr/>
        </p:nvSpPr>
        <p:spPr>
          <a:xfrm>
            <a:off x="8229600" y="274320"/>
            <a:ext cx="548640" cy="548640"/>
          </a:xfrm>
          <a:prstGeom prst="rect">
            <a:avLst/>
          </a:prstGeom>
          <a:noFill/>
          <a:ln/>
        </p:spPr>
        <p:txBody>
          <a:bodyPr wrap="square" rtlCol="0" anchor="ctr"/>
          <a:lstStyle/>
          <a:p>
            <a:pPr algn="r" indent="0" marL="0">
              <a:buNone/>
            </a:pPr>
            <a:r>
              <a:rPr lang="en-US" sz="2400" b="1" dirty="0">
                <a:solidFill>
                  <a:srgbClr val="E7EFE8"/>
                </a:solidFill>
                <a:latin typeface="Meiryo" pitchFamily="34" charset="0"/>
                <a:ea typeface="Meiryo" pitchFamily="34" charset="-122"/>
                <a:cs typeface="Meiryo" pitchFamily="34" charset="-120"/>
              </a:rPr>
              <a:t>03</a:t>
            </a:r>
            <a:endParaRPr lang="en-US" sz="2400" dirty="0"/>
          </a:p>
        </p:txBody>
      </p:sp>
      <p:graphicFrame>
        <p:nvGraphicFramePr>
          <p:cNvPr id="5" name="Chart 0" descr=""/>
          <p:cNvGraphicFramePr/>
          <p:nvPr/>
        </p:nvGraphicFramePr>
        <p:xfrm>
          <a:off x="457200" y="1234440"/>
          <a:ext cx="5852160" cy="256032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537960" y="1234440"/>
            <a:ext cx="2148840" cy="1078992"/>
          </a:xfrm>
          <a:prstGeom prst="roundRect">
            <a:avLst>
              <a:gd name="adj" fmla="val 6780"/>
            </a:avLst>
          </a:prstGeom>
          <a:solidFill>
            <a:srgbClr val="F1F5F1"/>
          </a:solidFill>
          <a:ln/>
        </p:spPr>
      </p:sp>
      <p:sp>
        <p:nvSpPr>
          <p:cNvPr id="7" name="Text 4"/>
          <p:cNvSpPr/>
          <p:nvPr/>
        </p:nvSpPr>
        <p:spPr>
          <a:xfrm>
            <a:off x="6720840" y="1325880"/>
            <a:ext cx="1783080" cy="237744"/>
          </a:xfrm>
          <a:prstGeom prst="rect">
            <a:avLst/>
          </a:prstGeom>
          <a:noFill/>
          <a:ln/>
        </p:spPr>
        <p:txBody>
          <a:bodyPr wrap="square" lIns="0" tIns="0" rIns="0" bIns="0" rtlCol="0" anchor="ctr"/>
          <a:lstStyle/>
          <a:p>
            <a:pPr indent="0" marL="0">
              <a:buNone/>
            </a:pPr>
            <a:r>
              <a:rPr lang="en-US" sz="1050" b="1" dirty="0">
                <a:solidFill>
                  <a:srgbClr val="6B7B70"/>
                </a:solidFill>
                <a:latin typeface="Meiryo" pitchFamily="34" charset="0"/>
                <a:ea typeface="Meiryo" pitchFamily="34" charset="-122"/>
                <a:cs typeface="Meiryo" pitchFamily="34" charset="-120"/>
              </a:rPr>
              <a:t>当月 会員数（正会員）</a:t>
            </a:r>
            <a:endParaRPr lang="en-US" sz="1050" dirty="0"/>
          </a:p>
        </p:txBody>
      </p:sp>
      <p:sp>
        <p:nvSpPr>
          <p:cNvPr id="8" name="Text 5"/>
          <p:cNvSpPr/>
          <p:nvPr/>
        </p:nvSpPr>
        <p:spPr>
          <a:xfrm>
            <a:off x="6720840" y="1563624"/>
            <a:ext cx="1783080" cy="457200"/>
          </a:xfrm>
          <a:prstGeom prst="rect">
            <a:avLst/>
          </a:prstGeom>
          <a:noFill/>
          <a:ln/>
        </p:spPr>
        <p:txBody>
          <a:bodyPr wrap="square" lIns="0" tIns="0" rIns="0" bIns="0" rtlCol="0" anchor="ctr"/>
          <a:lstStyle/>
          <a:p>
            <a:pPr indent="0" marL="0">
              <a:buNone/>
            </a:pPr>
            <a:r>
              <a:rPr lang="en-US" sz="3100" b="1" dirty="0">
                <a:solidFill>
                  <a:srgbClr val="1E6B3A"/>
                </a:solidFill>
                <a:latin typeface="Meiryo" pitchFamily="34" charset="0"/>
                <a:ea typeface="Meiryo" pitchFamily="34" charset="-122"/>
                <a:cs typeface="Meiryo" pitchFamily="34" charset="-120"/>
              </a:rPr>
              <a:t>210人</a:t>
            </a:r>
            <a:endParaRPr lang="en-US" sz="3100" dirty="0"/>
          </a:p>
        </p:txBody>
      </p:sp>
      <p:sp>
        <p:nvSpPr>
          <p:cNvPr id="9" name="Text 6"/>
          <p:cNvSpPr/>
          <p:nvPr/>
        </p:nvSpPr>
        <p:spPr>
          <a:xfrm>
            <a:off x="6720840" y="2029968"/>
            <a:ext cx="1783080" cy="237744"/>
          </a:xfrm>
          <a:prstGeom prst="rect">
            <a:avLst/>
          </a:prstGeom>
          <a:noFill/>
          <a:ln/>
        </p:spPr>
        <p:txBody>
          <a:bodyPr wrap="square" lIns="0" tIns="0" rIns="0" bIns="0" rtlCol="0" anchor="ctr"/>
          <a:lstStyle/>
          <a:p>
            <a:pPr indent="0" marL="0">
              <a:buNone/>
            </a:pPr>
            <a:r>
              <a:rPr lang="en-US" sz="1050" dirty="0">
                <a:solidFill>
                  <a:srgbClr val="6B7B70"/>
                </a:solidFill>
                <a:latin typeface="Meiryo" pitchFamily="34" charset="0"/>
                <a:ea typeface="Meiryo" pitchFamily="34" charset="-122"/>
                <a:cs typeface="Meiryo" pitchFamily="34" charset="-120"/>
              </a:rPr>
              <a:t>前月比 </a:t>
            </a:r>
            <a:pPr indent="0" marL="0">
              <a:buNone/>
            </a:pPr>
            <a:r>
              <a:rPr lang="en-US" sz="1050" b="1" dirty="0">
                <a:solidFill>
                  <a:srgbClr val="1E6B3A"/>
                </a:solidFill>
                <a:latin typeface="Meiryo" pitchFamily="34" charset="0"/>
                <a:ea typeface="Meiryo" pitchFamily="34" charset="-122"/>
                <a:cs typeface="Meiryo" pitchFamily="34" charset="-120"/>
              </a:rPr>
              <a:t>+7人 (+3.4%)</a:t>
            </a:r>
            <a:endParaRPr lang="en-US" sz="1050" dirty="0"/>
          </a:p>
        </p:txBody>
      </p:sp>
      <p:sp>
        <p:nvSpPr>
          <p:cNvPr id="10" name="Shape 7"/>
          <p:cNvSpPr/>
          <p:nvPr/>
        </p:nvSpPr>
        <p:spPr>
          <a:xfrm>
            <a:off x="6537960" y="2432304"/>
            <a:ext cx="2148840" cy="914400"/>
          </a:xfrm>
          <a:prstGeom prst="roundRect">
            <a:avLst>
              <a:gd name="adj" fmla="val 8000"/>
            </a:avLst>
          </a:prstGeom>
          <a:solidFill>
            <a:srgbClr val="F1F5F1"/>
          </a:solidFill>
          <a:ln/>
        </p:spPr>
      </p:sp>
      <p:sp>
        <p:nvSpPr>
          <p:cNvPr id="11" name="Text 8"/>
          <p:cNvSpPr/>
          <p:nvPr/>
        </p:nvSpPr>
        <p:spPr>
          <a:xfrm>
            <a:off x="6720840" y="2523744"/>
            <a:ext cx="1783080" cy="219456"/>
          </a:xfrm>
          <a:prstGeom prst="rect">
            <a:avLst/>
          </a:prstGeom>
          <a:noFill/>
          <a:ln/>
        </p:spPr>
        <p:txBody>
          <a:bodyPr wrap="square" lIns="0" tIns="0" rIns="0" bIns="0" rtlCol="0" anchor="ctr"/>
          <a:lstStyle/>
          <a:p>
            <a:pPr indent="0" marL="0">
              <a:buNone/>
            </a:pPr>
            <a:r>
              <a:rPr lang="en-US" sz="1050" b="1" dirty="0">
                <a:solidFill>
                  <a:srgbClr val="6B7B70"/>
                </a:solidFill>
                <a:latin typeface="Meiryo" pitchFamily="34" charset="0"/>
                <a:ea typeface="Meiryo" pitchFamily="34" charset="-122"/>
                <a:cs typeface="Meiryo" pitchFamily="34" charset="-120"/>
              </a:rPr>
              <a:t>当月の異動</a:t>
            </a:r>
            <a:endParaRPr lang="en-US" sz="1050" dirty="0"/>
          </a:p>
        </p:txBody>
      </p:sp>
      <p:sp>
        <p:nvSpPr>
          <p:cNvPr id="12" name="Text 9"/>
          <p:cNvSpPr/>
          <p:nvPr/>
        </p:nvSpPr>
        <p:spPr>
          <a:xfrm>
            <a:off x="6720840" y="2761488"/>
            <a:ext cx="1783080" cy="274320"/>
          </a:xfrm>
          <a:prstGeom prst="rect">
            <a:avLst/>
          </a:prstGeom>
          <a:noFill/>
          <a:ln/>
        </p:spPr>
        <p:txBody>
          <a:bodyPr wrap="square" lIns="0" tIns="0" rIns="0" bIns="0" rtlCol="0" anchor="ctr"/>
          <a:lstStyle/>
          <a:p>
            <a:pPr indent="0" marL="0">
              <a:buNone/>
            </a:pPr>
            <a:r>
              <a:rPr lang="en-US" sz="1300" dirty="0">
                <a:solidFill>
                  <a:srgbClr val="1B2A20"/>
                </a:solidFill>
                <a:latin typeface="Meiryo" pitchFamily="34" charset="0"/>
                <a:ea typeface="Meiryo" pitchFamily="34" charset="-122"/>
                <a:cs typeface="Meiryo" pitchFamily="34" charset="-120"/>
              </a:rPr>
              <a:t>新規入会　</a:t>
            </a:r>
            <a:pPr indent="0" marL="0">
              <a:buNone/>
            </a:pPr>
            <a:r>
              <a:rPr lang="en-US" sz="1300" b="1" dirty="0">
                <a:solidFill>
                  <a:srgbClr val="1E6B3A"/>
                </a:solidFill>
                <a:latin typeface="Meiryo" pitchFamily="34" charset="0"/>
                <a:ea typeface="Meiryo" pitchFamily="34" charset="-122"/>
                <a:cs typeface="Meiryo" pitchFamily="34" charset="-120"/>
              </a:rPr>
              <a:t>9人</a:t>
            </a:r>
            <a:endParaRPr lang="en-US" sz="1300" dirty="0"/>
          </a:p>
        </p:txBody>
      </p:sp>
      <p:sp>
        <p:nvSpPr>
          <p:cNvPr id="13" name="Text 10"/>
          <p:cNvSpPr/>
          <p:nvPr/>
        </p:nvSpPr>
        <p:spPr>
          <a:xfrm>
            <a:off x="6720840" y="3044952"/>
            <a:ext cx="1783080" cy="274320"/>
          </a:xfrm>
          <a:prstGeom prst="rect">
            <a:avLst/>
          </a:prstGeom>
          <a:noFill/>
          <a:ln/>
        </p:spPr>
        <p:txBody>
          <a:bodyPr wrap="square" lIns="0" tIns="0" rIns="0" bIns="0" rtlCol="0" anchor="ctr"/>
          <a:lstStyle/>
          <a:p>
            <a:pPr indent="0" marL="0">
              <a:buNone/>
            </a:pPr>
            <a:r>
              <a:rPr lang="en-US" sz="1300" dirty="0">
                <a:solidFill>
                  <a:srgbClr val="1B2A20"/>
                </a:solidFill>
                <a:latin typeface="Meiryo" pitchFamily="34" charset="0"/>
                <a:ea typeface="Meiryo" pitchFamily="34" charset="-122"/>
                <a:cs typeface="Meiryo" pitchFamily="34" charset="-120"/>
              </a:rPr>
              <a:t>退会者数　</a:t>
            </a:r>
            <a:pPr indent="0" marL="0">
              <a:buNone/>
            </a:pPr>
            <a:r>
              <a:rPr lang="en-US" sz="1300" b="1" dirty="0">
                <a:solidFill>
                  <a:srgbClr val="C0392B"/>
                </a:solidFill>
                <a:latin typeface="Meiryo" pitchFamily="34" charset="0"/>
                <a:ea typeface="Meiryo" pitchFamily="34" charset="-122"/>
                <a:cs typeface="Meiryo" pitchFamily="34" charset="-120"/>
              </a:rPr>
              <a:t>0人</a:t>
            </a:r>
            <a:endParaRPr lang="en-US" sz="1300" dirty="0"/>
          </a:p>
        </p:txBody>
      </p:sp>
      <p:sp>
        <p:nvSpPr>
          <p:cNvPr id="14" name="Shape 11"/>
          <p:cNvSpPr/>
          <p:nvPr/>
        </p:nvSpPr>
        <p:spPr>
          <a:xfrm>
            <a:off x="6537960" y="3465576"/>
            <a:ext cx="2148840" cy="1243584"/>
          </a:xfrm>
          <a:prstGeom prst="roundRect">
            <a:avLst>
              <a:gd name="adj" fmla="val 5882"/>
            </a:avLst>
          </a:prstGeom>
          <a:solidFill>
            <a:srgbClr val="13311E"/>
          </a:solidFill>
          <a:ln/>
        </p:spPr>
      </p:sp>
      <p:sp>
        <p:nvSpPr>
          <p:cNvPr id="15" name="Text 12"/>
          <p:cNvSpPr/>
          <p:nvPr/>
        </p:nvSpPr>
        <p:spPr>
          <a:xfrm>
            <a:off x="6720840" y="3547872"/>
            <a:ext cx="1783080" cy="219456"/>
          </a:xfrm>
          <a:prstGeom prst="rect">
            <a:avLst/>
          </a:prstGeom>
          <a:noFill/>
          <a:ln/>
        </p:spPr>
        <p:txBody>
          <a:bodyPr wrap="square" lIns="0" tIns="0" rIns="0" bIns="0" rtlCol="0" anchor="ctr"/>
          <a:lstStyle/>
          <a:p>
            <a:pPr indent="0" marL="0">
              <a:buNone/>
            </a:pPr>
            <a:r>
              <a:rPr lang="en-US" sz="950" b="1" dirty="0">
                <a:solidFill>
                  <a:srgbClr val="C9A24B"/>
                </a:solidFill>
                <a:latin typeface="Meiryo" pitchFamily="34" charset="0"/>
                <a:ea typeface="Meiryo" pitchFamily="34" charset="-122"/>
                <a:cs typeface="Meiryo" pitchFamily="34" charset="-120"/>
              </a:rPr>
              <a:t>会員数に含まない区分</a:t>
            </a:r>
            <a:endParaRPr lang="en-US" sz="950" dirty="0"/>
          </a:p>
        </p:txBody>
      </p:sp>
      <p:sp>
        <p:nvSpPr>
          <p:cNvPr id="16" name="Text 13"/>
          <p:cNvSpPr/>
          <p:nvPr/>
        </p:nvSpPr>
        <p:spPr>
          <a:xfrm>
            <a:off x="6720840" y="3785616"/>
            <a:ext cx="1783080" cy="868680"/>
          </a:xfrm>
          <a:prstGeom prst="rect">
            <a:avLst/>
          </a:prstGeom>
          <a:noFill/>
          <a:ln/>
        </p:spPr>
        <p:txBody>
          <a:bodyPr wrap="square" lIns="0" tIns="0" rIns="0" bIns="0" rtlCol="0" anchor="ctr"/>
          <a:lstStyle/>
          <a:p>
            <a:pPr indent="0" marL="0">
              <a:lnSpc>
                <a:spcPct val="112000"/>
              </a:lnSpc>
              <a:buNone/>
            </a:pPr>
            <a:r>
              <a:rPr lang="en-US" sz="1050" dirty="0">
                <a:solidFill>
                  <a:srgbClr val="E6EFE8"/>
                </a:solidFill>
                <a:latin typeface="Meiryo" pitchFamily="34" charset="0"/>
                <a:ea typeface="Meiryo" pitchFamily="34" charset="-122"/>
                <a:cs typeface="Meiryo" pitchFamily="34" charset="-120"/>
              </a:rPr>
              <a:t>スタッフ　15人</a:t>
            </a:r>
            <a:endParaRPr lang="en-US" sz="1050" dirty="0"/>
          </a:p>
          <a:p>
            <a:pPr indent="0" marL="0">
              <a:lnSpc>
                <a:spcPct val="112000"/>
              </a:lnSpc>
              <a:buNone/>
            </a:pPr>
            <a:r>
              <a:rPr lang="en-US" sz="1050" dirty="0">
                <a:solidFill>
                  <a:srgbClr val="E6EFE8"/>
                </a:solidFill>
                <a:latin typeface="Meiryo" pitchFamily="34" charset="0"/>
                <a:ea typeface="Meiryo" pitchFamily="34" charset="-122"/>
                <a:cs typeface="Meiryo" pitchFamily="34" charset="-120"/>
              </a:rPr>
              <a:t>モニター会員　7人</a:t>
            </a:r>
            <a:endParaRPr lang="en-US" sz="1050" dirty="0"/>
          </a:p>
          <a:p>
            <a:pPr indent="0" marL="0">
              <a:lnSpc>
                <a:spcPct val="112000"/>
              </a:lnSpc>
              <a:buNone/>
            </a:pPr>
            <a:r>
              <a:rPr lang="en-US" sz="1050" dirty="0">
                <a:solidFill>
                  <a:srgbClr val="E6EFE8"/>
                </a:solidFill>
                <a:latin typeface="Meiryo" pitchFamily="34" charset="0"/>
                <a:ea typeface="Meiryo" pitchFamily="34" charset="-122"/>
                <a:cs typeface="Meiryo" pitchFamily="34" charset="-120"/>
              </a:rPr>
              <a:t>法人会員2枚目　5人</a:t>
            </a:r>
            <a:endParaRPr lang="en-US" sz="1050" dirty="0"/>
          </a:p>
          <a:p>
            <a:pPr indent="0" marL="0">
              <a:lnSpc>
                <a:spcPct val="112000"/>
              </a:lnSpc>
              <a:buNone/>
            </a:pPr>
            <a:r>
              <a:rPr lang="en-US" sz="1050" dirty="0">
                <a:solidFill>
                  <a:srgbClr val="E6EFE8"/>
                </a:solidFill>
                <a:latin typeface="Meiryo" pitchFamily="34" charset="0"/>
                <a:ea typeface="Meiryo" pitchFamily="34" charset="-122"/>
                <a:cs typeface="Meiryo" pitchFamily="34" charset="-120"/>
              </a:rPr>
              <a:t>トライアル会員　2人</a:t>
            </a:r>
            <a:endParaRPr lang="en-US" sz="1050" dirty="0"/>
          </a:p>
        </p:txBody>
      </p:sp>
      <p:sp>
        <p:nvSpPr>
          <p:cNvPr id="17" name="Text 14"/>
          <p:cNvSpPr/>
          <p:nvPr/>
        </p:nvSpPr>
        <p:spPr>
          <a:xfrm>
            <a:off x="457200" y="3803904"/>
            <a:ext cx="5852160" cy="365760"/>
          </a:xfrm>
          <a:prstGeom prst="rect">
            <a:avLst/>
          </a:prstGeom>
          <a:noFill/>
          <a:ln/>
        </p:spPr>
        <p:txBody>
          <a:bodyPr wrap="square" lIns="0" tIns="0" rIns="0" bIns="0" rtlCol="0" anchor="ctr"/>
          <a:lstStyle/>
          <a:p>
            <a:pPr indent="0" marL="0">
              <a:lnSpc>
                <a:spcPct val="103000"/>
              </a:lnSpc>
              <a:buNone/>
            </a:pPr>
            <a:r>
              <a:rPr lang="en-US" sz="900" b="1" dirty="0">
                <a:solidFill>
                  <a:srgbClr val="1B2A20"/>
                </a:solidFill>
                <a:latin typeface="Meiryo" pitchFamily="34" charset="0"/>
                <a:ea typeface="Meiryo" pitchFamily="34" charset="-122"/>
                <a:cs typeface="Meiryo" pitchFamily="34" charset="-120"/>
              </a:rPr>
              <a:t>会員構成（会員種類名）: </a:t>
            </a:r>
            <a:pPr indent="0" marL="0">
              <a:lnSpc>
                <a:spcPct val="103000"/>
              </a:lnSpc>
              <a:buNone/>
            </a:pPr>
            <a:r>
              <a:rPr lang="en-US" sz="900" dirty="0">
                <a:solidFill>
                  <a:srgbClr val="6B7B70"/>
                </a:solidFill>
                <a:latin typeface="Meiryo" pitchFamily="34" charset="0"/>
                <a:ea typeface="Meiryo" pitchFamily="34" charset="-122"/>
                <a:cs typeface="Meiryo" pitchFamily="34" charset="-120"/>
              </a:rPr>
              <a:t>レギュラー会員134 / マスター会員35 / チケット会員17 / ライト会員9 / レギュラー家族割会員7 / 法人会員5 / プラチナレギュラー会員3</a:t>
            </a:r>
            <a:endParaRPr lang="en-US" sz="900" dirty="0"/>
          </a:p>
        </p:txBody>
      </p:sp>
      <p:sp>
        <p:nvSpPr>
          <p:cNvPr id="18" name="Text 15"/>
          <p:cNvSpPr/>
          <p:nvPr/>
        </p:nvSpPr>
        <p:spPr>
          <a:xfrm>
            <a:off x="457200" y="4206240"/>
            <a:ext cx="5852160" cy="640080"/>
          </a:xfrm>
          <a:prstGeom prst="rect">
            <a:avLst/>
          </a:prstGeom>
          <a:noFill/>
          <a:ln/>
        </p:spPr>
        <p:txBody>
          <a:bodyPr wrap="square" lIns="0" tIns="0" rIns="0" bIns="0" rtlCol="0" anchor="ctr"/>
          <a:lstStyle/>
          <a:p>
            <a:pPr indent="0" marL="0">
              <a:buNone/>
            </a:pPr>
            <a:r>
              <a:rPr lang="en-US" sz="800" i="1" dirty="0">
                <a:solidFill>
                  <a:srgbClr val="6B7B70"/>
                </a:solidFill>
                <a:latin typeface="Meiryo" pitchFamily="34" charset="0"/>
                <a:ea typeface="Meiryo" pitchFamily="34" charset="-122"/>
                <a:cs typeface="Meiryo" pitchFamily="34" charset="-120"/>
              </a:rPr>
              <a:t>※ 会員数（正会員）＝会員名簿の在籍から、会員種類名「スタッフ」「モニター会員」「法人会員2枚目」「トライアル会員」を除外。当月末退会者は当月の会員数に含めない。表記は会員名簿の会員種類名どおり。</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498080" cy="548640"/>
          </a:xfrm>
          <a:prstGeom prst="rect">
            <a:avLst/>
          </a:prstGeom>
          <a:noFill/>
          <a:ln/>
        </p:spPr>
        <p:txBody>
          <a:bodyPr wrap="square" lIns="0" tIns="0" rIns="0" bIns="0" rtlCol="0" anchor="ctr"/>
          <a:lstStyle/>
          <a:p>
            <a:pPr indent="0" marL="0">
              <a:buNone/>
            </a:pPr>
            <a:r>
              <a:rPr lang="en-US" sz="2600" b="1" dirty="0">
                <a:solidFill>
                  <a:srgbClr val="1B2A20"/>
                </a:solidFill>
                <a:latin typeface="Meiryo" pitchFamily="34" charset="0"/>
                <a:ea typeface="Meiryo" pitchFamily="34" charset="-122"/>
                <a:cs typeface="Meiryo" pitchFamily="34" charset="-120"/>
              </a:rPr>
              <a:t>物販売上・フィッティング</a:t>
            </a:r>
            <a:endParaRPr lang="en-US" sz="2600" dirty="0"/>
          </a:p>
        </p:txBody>
      </p:sp>
      <p:sp>
        <p:nvSpPr>
          <p:cNvPr id="3" name="Text 1"/>
          <p:cNvSpPr/>
          <p:nvPr/>
        </p:nvSpPr>
        <p:spPr>
          <a:xfrm>
            <a:off x="457200" y="822960"/>
            <a:ext cx="7315200" cy="274320"/>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GOLF WING　2026年6月</a:t>
            </a:r>
            <a:endParaRPr lang="en-US" sz="1100" dirty="0"/>
          </a:p>
        </p:txBody>
      </p:sp>
      <p:sp>
        <p:nvSpPr>
          <p:cNvPr id="4" name="Text 2"/>
          <p:cNvSpPr/>
          <p:nvPr/>
        </p:nvSpPr>
        <p:spPr>
          <a:xfrm>
            <a:off x="8229600" y="274320"/>
            <a:ext cx="548640" cy="548640"/>
          </a:xfrm>
          <a:prstGeom prst="rect">
            <a:avLst/>
          </a:prstGeom>
          <a:noFill/>
          <a:ln/>
        </p:spPr>
        <p:txBody>
          <a:bodyPr wrap="square" rtlCol="0" anchor="ctr"/>
          <a:lstStyle/>
          <a:p>
            <a:pPr algn="r" indent="0" marL="0">
              <a:buNone/>
            </a:pPr>
            <a:r>
              <a:rPr lang="en-US" sz="2400" b="1" dirty="0">
                <a:solidFill>
                  <a:srgbClr val="E7EFE8"/>
                </a:solidFill>
                <a:latin typeface="Meiryo" pitchFamily="34" charset="0"/>
                <a:ea typeface="Meiryo" pitchFamily="34" charset="-122"/>
                <a:cs typeface="Meiryo" pitchFamily="34" charset="-120"/>
              </a:rPr>
              <a:t>04</a:t>
            </a:r>
            <a:endParaRPr lang="en-US" sz="2400" dirty="0"/>
          </a:p>
        </p:txBody>
      </p:sp>
      <p:graphicFrame>
        <p:nvGraphicFramePr>
          <p:cNvPr id="5" name="Chart 0" descr=""/>
          <p:cNvGraphicFramePr/>
          <p:nvPr/>
        </p:nvGraphicFramePr>
        <p:xfrm>
          <a:off x="457200" y="1234440"/>
          <a:ext cx="5852160" cy="35661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537960" y="1234440"/>
            <a:ext cx="2148840" cy="1234440"/>
          </a:xfrm>
          <a:prstGeom prst="roundRect">
            <a:avLst>
              <a:gd name="adj" fmla="val 5926"/>
            </a:avLst>
          </a:prstGeom>
          <a:solidFill>
            <a:srgbClr val="F1F5F1"/>
          </a:solidFill>
          <a:ln/>
        </p:spPr>
      </p:sp>
      <p:sp>
        <p:nvSpPr>
          <p:cNvPr id="7" name="Text 4"/>
          <p:cNvSpPr/>
          <p:nvPr/>
        </p:nvSpPr>
        <p:spPr>
          <a:xfrm>
            <a:off x="6720840" y="1353312"/>
            <a:ext cx="1783080" cy="256032"/>
          </a:xfrm>
          <a:prstGeom prst="rect">
            <a:avLst/>
          </a:prstGeom>
          <a:noFill/>
          <a:ln/>
        </p:spPr>
        <p:txBody>
          <a:bodyPr wrap="square" lIns="0" tIns="0" rIns="0" bIns="0" rtlCol="0" anchor="ctr"/>
          <a:lstStyle/>
          <a:p>
            <a:pPr indent="0" marL="0">
              <a:buNone/>
            </a:pPr>
            <a:r>
              <a:rPr lang="en-US" sz="1100" b="1" dirty="0">
                <a:solidFill>
                  <a:srgbClr val="6B7B70"/>
                </a:solidFill>
                <a:latin typeface="Meiryo" pitchFamily="34" charset="0"/>
                <a:ea typeface="Meiryo" pitchFamily="34" charset="-122"/>
                <a:cs typeface="Meiryo" pitchFamily="34" charset="-120"/>
              </a:rPr>
              <a:t>当月 物販売上</a:t>
            </a:r>
            <a:endParaRPr lang="en-US" sz="1100" dirty="0"/>
          </a:p>
        </p:txBody>
      </p:sp>
      <p:sp>
        <p:nvSpPr>
          <p:cNvPr id="8" name="Text 5"/>
          <p:cNvSpPr/>
          <p:nvPr/>
        </p:nvSpPr>
        <p:spPr>
          <a:xfrm>
            <a:off x="6720840" y="1600200"/>
            <a:ext cx="1783080" cy="457200"/>
          </a:xfrm>
          <a:prstGeom prst="rect">
            <a:avLst/>
          </a:prstGeom>
          <a:noFill/>
          <a:ln/>
        </p:spPr>
        <p:txBody>
          <a:bodyPr wrap="square" lIns="0" tIns="0" rIns="0" bIns="0" rtlCol="0" anchor="ctr"/>
          <a:lstStyle/>
          <a:p>
            <a:pPr indent="0" marL="0">
              <a:buNone/>
            </a:pPr>
            <a:r>
              <a:rPr lang="en-US" sz="2400" b="1" dirty="0">
                <a:solidFill>
                  <a:srgbClr val="1E6B3A"/>
                </a:solidFill>
                <a:latin typeface="Meiryo" pitchFamily="34" charset="0"/>
                <a:ea typeface="Meiryo" pitchFamily="34" charset="-122"/>
                <a:cs typeface="Meiryo" pitchFamily="34" charset="-120"/>
              </a:rPr>
              <a:t>¥842,000</a:t>
            </a:r>
            <a:endParaRPr lang="en-US" sz="2400" dirty="0"/>
          </a:p>
        </p:txBody>
      </p:sp>
      <p:sp>
        <p:nvSpPr>
          <p:cNvPr id="9" name="Text 6"/>
          <p:cNvSpPr/>
          <p:nvPr/>
        </p:nvSpPr>
        <p:spPr>
          <a:xfrm>
            <a:off x="6720840" y="2084832"/>
            <a:ext cx="1783080" cy="274320"/>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前月比 </a:t>
            </a:r>
            <a:pPr indent="0" marL="0">
              <a:buNone/>
            </a:pPr>
            <a:r>
              <a:rPr lang="en-US" sz="1100" b="1" dirty="0">
                <a:solidFill>
                  <a:srgbClr val="1E6B3A"/>
                </a:solidFill>
                <a:latin typeface="Meiryo" pitchFamily="34" charset="0"/>
                <a:ea typeface="Meiryo" pitchFamily="34" charset="-122"/>
                <a:cs typeface="Meiryo" pitchFamily="34" charset="-120"/>
              </a:rPr>
              <a:t>+127,000円 (+17.8%)</a:t>
            </a:r>
            <a:endParaRPr lang="en-US" sz="1100" dirty="0"/>
          </a:p>
        </p:txBody>
      </p:sp>
      <p:sp>
        <p:nvSpPr>
          <p:cNvPr id="10" name="Shape 7"/>
          <p:cNvSpPr/>
          <p:nvPr/>
        </p:nvSpPr>
        <p:spPr>
          <a:xfrm>
            <a:off x="6537960" y="2606040"/>
            <a:ext cx="2148840" cy="1463040"/>
          </a:xfrm>
          <a:prstGeom prst="roundRect">
            <a:avLst>
              <a:gd name="adj" fmla="val 5000"/>
            </a:avLst>
          </a:prstGeom>
          <a:solidFill>
            <a:srgbClr val="13311E"/>
          </a:solidFill>
          <a:ln/>
        </p:spPr>
      </p:sp>
      <p:sp>
        <p:nvSpPr>
          <p:cNvPr id="11" name="Text 8"/>
          <p:cNvSpPr/>
          <p:nvPr/>
        </p:nvSpPr>
        <p:spPr>
          <a:xfrm>
            <a:off x="6720840" y="2724912"/>
            <a:ext cx="1783080" cy="256032"/>
          </a:xfrm>
          <a:prstGeom prst="rect">
            <a:avLst/>
          </a:prstGeom>
          <a:noFill/>
          <a:ln/>
        </p:spPr>
        <p:txBody>
          <a:bodyPr wrap="square" lIns="0" tIns="0" rIns="0" bIns="0" rtlCol="0" anchor="ctr"/>
          <a:lstStyle/>
          <a:p>
            <a:pPr indent="0" marL="0">
              <a:buNone/>
            </a:pPr>
            <a:r>
              <a:rPr lang="en-US" sz="1100" b="1" dirty="0">
                <a:solidFill>
                  <a:srgbClr val="C9A24B"/>
                </a:solidFill>
                <a:latin typeface="Meiryo" pitchFamily="34" charset="0"/>
                <a:ea typeface="Meiryo" pitchFamily="34" charset="-122"/>
                <a:cs typeface="Meiryo" pitchFamily="34" charset="-120"/>
              </a:rPr>
              <a:t>フィッティング件数</a:t>
            </a:r>
            <a:endParaRPr lang="en-US" sz="1100" dirty="0"/>
          </a:p>
        </p:txBody>
      </p:sp>
      <p:sp>
        <p:nvSpPr>
          <p:cNvPr id="12" name="Text 9"/>
          <p:cNvSpPr/>
          <p:nvPr/>
        </p:nvSpPr>
        <p:spPr>
          <a:xfrm>
            <a:off x="6720840" y="2980944"/>
            <a:ext cx="1783080" cy="502920"/>
          </a:xfrm>
          <a:prstGeom prst="rect">
            <a:avLst/>
          </a:prstGeom>
          <a:noFill/>
          <a:ln/>
        </p:spPr>
        <p:txBody>
          <a:bodyPr wrap="square" lIns="0" tIns="0" rIns="0" bIns="0" rtlCol="0" anchor="ctr"/>
          <a:lstStyle/>
          <a:p>
            <a:pPr indent="0" marL="0">
              <a:buNone/>
            </a:pPr>
            <a:r>
              <a:rPr lang="en-US" sz="3400" b="1" dirty="0">
                <a:solidFill>
                  <a:srgbClr val="FFFFFF"/>
                </a:solidFill>
                <a:latin typeface="Meiryo" pitchFamily="34" charset="0"/>
                <a:ea typeface="Meiryo" pitchFamily="34" charset="-122"/>
                <a:cs typeface="Meiryo" pitchFamily="34" charset="-120"/>
              </a:rPr>
              <a:t>14件</a:t>
            </a:r>
            <a:endParaRPr lang="en-US" sz="3400" dirty="0"/>
          </a:p>
        </p:txBody>
      </p:sp>
      <p:sp>
        <p:nvSpPr>
          <p:cNvPr id="13" name="Text 10"/>
          <p:cNvSpPr/>
          <p:nvPr/>
        </p:nvSpPr>
        <p:spPr>
          <a:xfrm>
            <a:off x="6720840" y="3520440"/>
            <a:ext cx="1783080" cy="502920"/>
          </a:xfrm>
          <a:prstGeom prst="rect">
            <a:avLst/>
          </a:prstGeom>
          <a:noFill/>
          <a:ln/>
        </p:spPr>
        <p:txBody>
          <a:bodyPr wrap="square" lIns="0" tIns="0" rIns="0" bIns="0" rtlCol="0" anchor="ctr"/>
          <a:lstStyle/>
          <a:p>
            <a:pPr indent="0" marL="0">
              <a:lnSpc>
                <a:spcPct val="110000"/>
              </a:lnSpc>
              <a:buNone/>
            </a:pPr>
            <a:r>
              <a:rPr lang="en-US" sz="1100" dirty="0">
                <a:solidFill>
                  <a:srgbClr val="9FB6A6"/>
                </a:solidFill>
                <a:latin typeface="Meiryo" pitchFamily="34" charset="0"/>
                <a:ea typeface="Meiryo" pitchFamily="34" charset="-122"/>
                <a:cs typeface="Meiryo" pitchFamily="34" charset="-120"/>
              </a:rPr>
              <a:t>前月比 </a:t>
            </a:r>
            <a:pPr indent="0" marL="0">
              <a:lnSpc>
                <a:spcPct val="110000"/>
              </a:lnSpc>
              <a:buNone/>
            </a:pPr>
            <a:r>
              <a:rPr lang="en-US" sz="1100" b="1" dirty="0">
                <a:solidFill>
                  <a:srgbClr val="FFFFFF"/>
                </a:solidFill>
                <a:latin typeface="Meiryo" pitchFamily="34" charset="0"/>
                <a:ea typeface="Meiryo" pitchFamily="34" charset="-122"/>
                <a:cs typeface="Meiryo" pitchFamily="34" charset="-120"/>
              </a:rPr>
              <a:t>+3件 (+27.3%)</a:t>
            </a:r>
            <a:pPr indent="0" marL="0">
              <a:lnSpc>
                <a:spcPct val="110000"/>
              </a:lnSpc>
              <a:buNone/>
            </a:pPr>
            <a:r>
              <a:rPr lang="en-US" sz="1100" dirty="0">
                <a:solidFill>
                  <a:srgbClr val="9FB6A6"/>
                </a:solidFill>
                <a:latin typeface="Meiryo" pitchFamily="34" charset="0"/>
                <a:ea typeface="Meiryo" pitchFamily="34" charset="-122"/>
                <a:cs typeface="Meiryo" pitchFamily="34" charset="-120"/>
              </a:rPr>
              <a:t>前年比 </a:t>
            </a:r>
            <a:pPr indent="0" marL="0">
              <a:lnSpc>
                <a:spcPct val="110000"/>
              </a:lnSpc>
              <a:buNone/>
            </a:pPr>
            <a:r>
              <a:rPr lang="en-US" sz="1100" b="1" dirty="0">
                <a:solidFill>
                  <a:srgbClr val="FFFFFF"/>
                </a:solidFill>
                <a:latin typeface="Meiryo" pitchFamily="34" charset="0"/>
                <a:ea typeface="Meiryo" pitchFamily="34" charset="-122"/>
                <a:cs typeface="Meiryo" pitchFamily="34" charset="-120"/>
              </a:rPr>
              <a:t>+5件 (+55.6%)</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498080" cy="548640"/>
          </a:xfrm>
          <a:prstGeom prst="rect">
            <a:avLst/>
          </a:prstGeom>
          <a:noFill/>
          <a:ln/>
        </p:spPr>
        <p:txBody>
          <a:bodyPr wrap="square" lIns="0" tIns="0" rIns="0" bIns="0" rtlCol="0" anchor="ctr"/>
          <a:lstStyle/>
          <a:p>
            <a:pPr indent="0" marL="0">
              <a:buNone/>
            </a:pPr>
            <a:r>
              <a:rPr lang="en-US" sz="2600" b="1" dirty="0">
                <a:solidFill>
                  <a:srgbClr val="1B2A20"/>
                </a:solidFill>
                <a:latin typeface="Meiryo" pitchFamily="34" charset="0"/>
                <a:ea typeface="Meiryo" pitchFamily="34" charset="-122"/>
                <a:cs typeface="Meiryo" pitchFamily="34" charset="-120"/>
              </a:rPr>
              <a:t>月間の実施事項</a:t>
            </a:r>
            <a:endParaRPr lang="en-US" sz="2600" dirty="0"/>
          </a:p>
        </p:txBody>
      </p:sp>
      <p:sp>
        <p:nvSpPr>
          <p:cNvPr id="3" name="Text 1"/>
          <p:cNvSpPr/>
          <p:nvPr/>
        </p:nvSpPr>
        <p:spPr>
          <a:xfrm>
            <a:off x="457200" y="822960"/>
            <a:ext cx="7315200" cy="274320"/>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GOLF WING　2026年6月</a:t>
            </a:r>
            <a:endParaRPr lang="en-US" sz="1100" dirty="0"/>
          </a:p>
        </p:txBody>
      </p:sp>
      <p:sp>
        <p:nvSpPr>
          <p:cNvPr id="4" name="Text 2"/>
          <p:cNvSpPr/>
          <p:nvPr/>
        </p:nvSpPr>
        <p:spPr>
          <a:xfrm>
            <a:off x="8229600" y="274320"/>
            <a:ext cx="548640" cy="548640"/>
          </a:xfrm>
          <a:prstGeom prst="rect">
            <a:avLst/>
          </a:prstGeom>
          <a:noFill/>
          <a:ln/>
        </p:spPr>
        <p:txBody>
          <a:bodyPr wrap="square" rtlCol="0" anchor="ctr"/>
          <a:lstStyle/>
          <a:p>
            <a:pPr algn="r" indent="0" marL="0">
              <a:buNone/>
            </a:pPr>
            <a:r>
              <a:rPr lang="en-US" sz="2400" b="1" dirty="0">
                <a:solidFill>
                  <a:srgbClr val="E7EFE8"/>
                </a:solidFill>
                <a:latin typeface="Meiryo" pitchFamily="34" charset="0"/>
                <a:ea typeface="Meiryo" pitchFamily="34" charset="-122"/>
                <a:cs typeface="Meiryo" pitchFamily="34" charset="-120"/>
              </a:rPr>
              <a:t>05</a:t>
            </a:r>
            <a:endParaRPr lang="en-US" sz="2400" dirty="0"/>
          </a:p>
        </p:txBody>
      </p:sp>
      <p:sp>
        <p:nvSpPr>
          <p:cNvPr id="5" name="Shape 3"/>
          <p:cNvSpPr/>
          <p:nvPr/>
        </p:nvSpPr>
        <p:spPr>
          <a:xfrm>
            <a:off x="457200" y="1280160"/>
            <a:ext cx="8229600" cy="800100"/>
          </a:xfrm>
          <a:prstGeom prst="roundRect">
            <a:avLst>
              <a:gd name="adj" fmla="val 6857"/>
            </a:avLst>
          </a:prstGeom>
          <a:solidFill>
            <a:srgbClr val="F1F5F1"/>
          </a:solidFill>
          <a:ln/>
        </p:spPr>
      </p:sp>
      <p:sp>
        <p:nvSpPr>
          <p:cNvPr id="6" name="Shape 4"/>
          <p:cNvSpPr/>
          <p:nvPr/>
        </p:nvSpPr>
        <p:spPr>
          <a:xfrm>
            <a:off x="658368" y="1479042"/>
            <a:ext cx="402336" cy="402336"/>
          </a:xfrm>
          <a:prstGeom prst="ellipse">
            <a:avLst/>
          </a:prstGeom>
          <a:solidFill>
            <a:srgbClr val="1E6B3A"/>
          </a:solidFill>
          <a:ln/>
        </p:spPr>
      </p:sp>
      <p:sp>
        <p:nvSpPr>
          <p:cNvPr id="7" name="Text 5"/>
          <p:cNvSpPr/>
          <p:nvPr/>
        </p:nvSpPr>
        <p:spPr>
          <a:xfrm>
            <a:off x="658368" y="147904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8" name="Text 6"/>
          <p:cNvSpPr/>
          <p:nvPr/>
        </p:nvSpPr>
        <p:spPr>
          <a:xfrm>
            <a:off x="1234440" y="1353312"/>
            <a:ext cx="7269480" cy="653796"/>
          </a:xfrm>
          <a:prstGeom prst="rect">
            <a:avLst/>
          </a:prstGeom>
          <a:noFill/>
          <a:ln/>
        </p:spPr>
        <p:txBody>
          <a:bodyPr wrap="square" lIns="0" tIns="0" rIns="0" bIns="0" rtlCol="0" anchor="ctr"/>
          <a:lstStyle/>
          <a:p>
            <a:pPr indent="0" marL="0">
              <a:buNone/>
            </a:pPr>
            <a:r>
              <a:rPr lang="en-US" sz="1250" dirty="0">
                <a:solidFill>
                  <a:srgbClr val="1B2A20"/>
                </a:solidFill>
                <a:latin typeface="Meiryo" pitchFamily="34" charset="0"/>
                <a:ea typeface="Meiryo" pitchFamily="34" charset="-122"/>
                <a:cs typeface="Meiryo" pitchFamily="34" charset="-120"/>
              </a:rPr>
              <a:t>梅雨期の来店減を見込み、雨天日限定の「平日フィッティング半額」キャンペーンを6/8〜6/21で実施。フィッティング件数が前月比+3件（11→14件）。</a:t>
            </a:r>
            <a:endParaRPr lang="en-US" sz="1250" dirty="0"/>
          </a:p>
        </p:txBody>
      </p:sp>
      <p:sp>
        <p:nvSpPr>
          <p:cNvPr id="9" name="Shape 7"/>
          <p:cNvSpPr/>
          <p:nvPr/>
        </p:nvSpPr>
        <p:spPr>
          <a:xfrm>
            <a:off x="457200" y="2217420"/>
            <a:ext cx="8229600" cy="800100"/>
          </a:xfrm>
          <a:prstGeom prst="roundRect">
            <a:avLst>
              <a:gd name="adj" fmla="val 6857"/>
            </a:avLst>
          </a:prstGeom>
          <a:solidFill>
            <a:srgbClr val="F1F5F1"/>
          </a:solidFill>
          <a:ln/>
        </p:spPr>
      </p:sp>
      <p:sp>
        <p:nvSpPr>
          <p:cNvPr id="10" name="Shape 8"/>
          <p:cNvSpPr/>
          <p:nvPr/>
        </p:nvSpPr>
        <p:spPr>
          <a:xfrm>
            <a:off x="658368" y="2416302"/>
            <a:ext cx="402336" cy="402336"/>
          </a:xfrm>
          <a:prstGeom prst="ellipse">
            <a:avLst/>
          </a:prstGeom>
          <a:solidFill>
            <a:srgbClr val="1E6B3A"/>
          </a:solidFill>
          <a:ln/>
        </p:spPr>
      </p:sp>
      <p:sp>
        <p:nvSpPr>
          <p:cNvPr id="11" name="Text 9"/>
          <p:cNvSpPr/>
          <p:nvPr/>
        </p:nvSpPr>
        <p:spPr>
          <a:xfrm>
            <a:off x="658368" y="241630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2" name="Text 10"/>
          <p:cNvSpPr/>
          <p:nvPr/>
        </p:nvSpPr>
        <p:spPr>
          <a:xfrm>
            <a:off x="1234440" y="2290572"/>
            <a:ext cx="7269480" cy="653796"/>
          </a:xfrm>
          <a:prstGeom prst="rect">
            <a:avLst/>
          </a:prstGeom>
          <a:noFill/>
          <a:ln/>
        </p:spPr>
        <p:txBody>
          <a:bodyPr wrap="square" lIns="0" tIns="0" rIns="0" bIns="0" rtlCol="0" anchor="ctr"/>
          <a:lstStyle/>
          <a:p>
            <a:pPr indent="0" marL="0">
              <a:buNone/>
            </a:pPr>
            <a:r>
              <a:rPr lang="en-US" sz="1250" dirty="0">
                <a:solidFill>
                  <a:srgbClr val="1B2A20"/>
                </a:solidFill>
                <a:latin typeface="Meiryo" pitchFamily="34" charset="0"/>
                <a:ea typeface="Meiryo" pitchFamily="34" charset="-122"/>
                <a:cs typeface="Meiryo" pitchFamily="34" charset="-120"/>
              </a:rPr>
              <a:t>体験レッスンの導線を見直し、Smart Hello受付からの体験予約フォームを短縮化。6月体験予約は37件（全件新規）。</a:t>
            </a:r>
            <a:endParaRPr lang="en-US" sz="1250" dirty="0"/>
          </a:p>
        </p:txBody>
      </p:sp>
      <p:sp>
        <p:nvSpPr>
          <p:cNvPr id="13" name="Shape 11"/>
          <p:cNvSpPr/>
          <p:nvPr/>
        </p:nvSpPr>
        <p:spPr>
          <a:xfrm>
            <a:off x="457200" y="3154680"/>
            <a:ext cx="8229600" cy="800100"/>
          </a:xfrm>
          <a:prstGeom prst="roundRect">
            <a:avLst>
              <a:gd name="adj" fmla="val 6857"/>
            </a:avLst>
          </a:prstGeom>
          <a:solidFill>
            <a:srgbClr val="F1F5F1"/>
          </a:solidFill>
          <a:ln/>
        </p:spPr>
      </p:sp>
      <p:sp>
        <p:nvSpPr>
          <p:cNvPr id="14" name="Shape 12"/>
          <p:cNvSpPr/>
          <p:nvPr/>
        </p:nvSpPr>
        <p:spPr>
          <a:xfrm>
            <a:off x="658368" y="3353562"/>
            <a:ext cx="402336" cy="402336"/>
          </a:xfrm>
          <a:prstGeom prst="ellipse">
            <a:avLst/>
          </a:prstGeom>
          <a:solidFill>
            <a:srgbClr val="1E6B3A"/>
          </a:solidFill>
          <a:ln/>
        </p:spPr>
      </p:sp>
      <p:sp>
        <p:nvSpPr>
          <p:cNvPr id="15" name="Text 13"/>
          <p:cNvSpPr/>
          <p:nvPr/>
        </p:nvSpPr>
        <p:spPr>
          <a:xfrm>
            <a:off x="658368" y="335356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6" name="Text 14"/>
          <p:cNvSpPr/>
          <p:nvPr/>
        </p:nvSpPr>
        <p:spPr>
          <a:xfrm>
            <a:off x="1234440" y="3227832"/>
            <a:ext cx="7269480" cy="653796"/>
          </a:xfrm>
          <a:prstGeom prst="rect">
            <a:avLst/>
          </a:prstGeom>
          <a:noFill/>
          <a:ln/>
        </p:spPr>
        <p:txBody>
          <a:bodyPr wrap="square" lIns="0" tIns="0" rIns="0" bIns="0" rtlCol="0" anchor="ctr"/>
          <a:lstStyle/>
          <a:p>
            <a:pPr indent="0" marL="0">
              <a:buNone/>
            </a:pPr>
            <a:r>
              <a:rPr lang="en-US" sz="1250" dirty="0">
                <a:solidFill>
                  <a:srgbClr val="1B2A20"/>
                </a:solidFill>
                <a:latin typeface="Meiryo" pitchFamily="34" charset="0"/>
                <a:ea typeface="Meiryo" pitchFamily="34" charset="-122"/>
                <a:cs typeface="Meiryo" pitchFamily="34" charset="-120"/>
              </a:rPr>
              <a:t>物販は父の日フェア（6/14〜6/15）でグローブ・ボール中心に販促。物販売上は前月比+17.8%（71.5万→84.2万円）。</a:t>
            </a:r>
            <a:endParaRPr lang="en-US" sz="1250" dirty="0"/>
          </a:p>
        </p:txBody>
      </p:sp>
      <p:sp>
        <p:nvSpPr>
          <p:cNvPr id="17" name="Shape 15"/>
          <p:cNvSpPr/>
          <p:nvPr/>
        </p:nvSpPr>
        <p:spPr>
          <a:xfrm>
            <a:off x="457200" y="4091940"/>
            <a:ext cx="8229600" cy="800100"/>
          </a:xfrm>
          <a:prstGeom prst="roundRect">
            <a:avLst>
              <a:gd name="adj" fmla="val 6857"/>
            </a:avLst>
          </a:prstGeom>
          <a:solidFill>
            <a:srgbClr val="F1F5F1"/>
          </a:solidFill>
          <a:ln/>
        </p:spPr>
      </p:sp>
      <p:sp>
        <p:nvSpPr>
          <p:cNvPr id="18" name="Shape 16"/>
          <p:cNvSpPr/>
          <p:nvPr/>
        </p:nvSpPr>
        <p:spPr>
          <a:xfrm>
            <a:off x="658368" y="4290822"/>
            <a:ext cx="402336" cy="402336"/>
          </a:xfrm>
          <a:prstGeom prst="ellipse">
            <a:avLst/>
          </a:prstGeom>
          <a:solidFill>
            <a:srgbClr val="1E6B3A"/>
          </a:solidFill>
          <a:ln/>
        </p:spPr>
      </p:sp>
      <p:sp>
        <p:nvSpPr>
          <p:cNvPr id="19" name="Text 17"/>
          <p:cNvSpPr/>
          <p:nvPr/>
        </p:nvSpPr>
        <p:spPr>
          <a:xfrm>
            <a:off x="658368" y="429082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4</a:t>
            </a:r>
            <a:endParaRPr lang="en-US" sz="1600" dirty="0"/>
          </a:p>
        </p:txBody>
      </p:sp>
      <p:sp>
        <p:nvSpPr>
          <p:cNvPr id="20" name="Text 18"/>
          <p:cNvSpPr/>
          <p:nvPr/>
        </p:nvSpPr>
        <p:spPr>
          <a:xfrm>
            <a:off x="1234440" y="4165092"/>
            <a:ext cx="7269480" cy="653796"/>
          </a:xfrm>
          <a:prstGeom prst="rect">
            <a:avLst/>
          </a:prstGeom>
          <a:noFill/>
          <a:ln/>
        </p:spPr>
        <p:txBody>
          <a:bodyPr wrap="square" lIns="0" tIns="0" rIns="0" bIns="0" rtlCol="0" anchor="ctr"/>
          <a:lstStyle/>
          <a:p>
            <a:pPr indent="0" marL="0">
              <a:buNone/>
            </a:pPr>
            <a:r>
              <a:rPr lang="en-US" sz="1250" dirty="0">
                <a:solidFill>
                  <a:srgbClr val="1B2A20"/>
                </a:solidFill>
                <a:latin typeface="Meiryo" pitchFamily="34" charset="0"/>
                <a:ea typeface="Meiryo" pitchFamily="34" charset="-122"/>
                <a:cs typeface="Meiryo" pitchFamily="34" charset="-120"/>
              </a:rPr>
              <a:t>6月は新規入会9名・退会0名で純増（正会員210名）。ただし7〜8月に退会予定10名があり、定着施策を前倒しで準備。</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498080" cy="548640"/>
          </a:xfrm>
          <a:prstGeom prst="rect">
            <a:avLst/>
          </a:prstGeom>
          <a:noFill/>
          <a:ln/>
        </p:spPr>
        <p:txBody>
          <a:bodyPr wrap="square" lIns="0" tIns="0" rIns="0" bIns="0" rtlCol="0" anchor="ctr"/>
          <a:lstStyle/>
          <a:p>
            <a:pPr indent="0" marL="0">
              <a:buNone/>
            </a:pPr>
            <a:r>
              <a:rPr lang="en-US" sz="2600" b="1" dirty="0">
                <a:solidFill>
                  <a:srgbClr val="1B2A20"/>
                </a:solidFill>
                <a:latin typeface="Meiryo" pitchFamily="34" charset="0"/>
                <a:ea typeface="Meiryo" pitchFamily="34" charset="-122"/>
                <a:cs typeface="Meiryo" pitchFamily="34" charset="-120"/>
              </a:rPr>
              <a:t>問題点の洗い出し ／ 実施予定（解決策）</a:t>
            </a:r>
            <a:endParaRPr lang="en-US" sz="2600" dirty="0"/>
          </a:p>
        </p:txBody>
      </p:sp>
      <p:sp>
        <p:nvSpPr>
          <p:cNvPr id="3" name="Text 1"/>
          <p:cNvSpPr/>
          <p:nvPr/>
        </p:nvSpPr>
        <p:spPr>
          <a:xfrm>
            <a:off x="457200" y="822960"/>
            <a:ext cx="7315200" cy="274320"/>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GOLF WING　2026年6月</a:t>
            </a:r>
            <a:endParaRPr lang="en-US" sz="1100" dirty="0"/>
          </a:p>
        </p:txBody>
      </p:sp>
      <p:sp>
        <p:nvSpPr>
          <p:cNvPr id="4" name="Text 2"/>
          <p:cNvSpPr/>
          <p:nvPr/>
        </p:nvSpPr>
        <p:spPr>
          <a:xfrm>
            <a:off x="8229600" y="274320"/>
            <a:ext cx="548640" cy="548640"/>
          </a:xfrm>
          <a:prstGeom prst="rect">
            <a:avLst/>
          </a:prstGeom>
          <a:noFill/>
          <a:ln/>
        </p:spPr>
        <p:txBody>
          <a:bodyPr wrap="square" rtlCol="0" anchor="ctr"/>
          <a:lstStyle/>
          <a:p>
            <a:pPr algn="r" indent="0" marL="0">
              <a:buNone/>
            </a:pPr>
            <a:r>
              <a:rPr lang="en-US" sz="2400" b="1" dirty="0">
                <a:solidFill>
                  <a:srgbClr val="E7EFE8"/>
                </a:solidFill>
                <a:latin typeface="Meiryo" pitchFamily="34" charset="0"/>
                <a:ea typeface="Meiryo" pitchFamily="34" charset="-122"/>
                <a:cs typeface="Meiryo" pitchFamily="34" charset="-120"/>
              </a:rPr>
              <a:t>06</a:t>
            </a:r>
            <a:endParaRPr lang="en-US" sz="2400" dirty="0"/>
          </a:p>
        </p:txBody>
      </p:sp>
      <p:sp>
        <p:nvSpPr>
          <p:cNvPr id="5" name="Text 3"/>
          <p:cNvSpPr/>
          <p:nvPr/>
        </p:nvSpPr>
        <p:spPr>
          <a:xfrm>
            <a:off x="457200" y="1207008"/>
            <a:ext cx="4023360" cy="320040"/>
          </a:xfrm>
          <a:prstGeom prst="rect">
            <a:avLst/>
          </a:prstGeom>
          <a:noFill/>
          <a:ln/>
        </p:spPr>
        <p:txBody>
          <a:bodyPr wrap="square" lIns="0" tIns="0" rIns="0" bIns="0" rtlCol="0" anchor="ctr"/>
          <a:lstStyle/>
          <a:p>
            <a:pPr indent="0" marL="0">
              <a:buNone/>
            </a:pPr>
            <a:r>
              <a:rPr lang="en-US" sz="1400" b="1" dirty="0">
                <a:solidFill>
                  <a:srgbClr val="C0392B"/>
                </a:solidFill>
                <a:latin typeface="Meiryo" pitchFamily="34" charset="0"/>
                <a:ea typeface="Meiryo" pitchFamily="34" charset="-122"/>
                <a:cs typeface="Meiryo" pitchFamily="34" charset="-120"/>
              </a:rPr>
              <a:t>問題点</a:t>
            </a:r>
            <a:endParaRPr lang="en-US" sz="1400" dirty="0"/>
          </a:p>
        </p:txBody>
      </p:sp>
      <p:sp>
        <p:nvSpPr>
          <p:cNvPr id="6" name="Text 4"/>
          <p:cNvSpPr/>
          <p:nvPr/>
        </p:nvSpPr>
        <p:spPr>
          <a:xfrm>
            <a:off x="4663440" y="1207008"/>
            <a:ext cx="4023360" cy="320040"/>
          </a:xfrm>
          <a:prstGeom prst="rect">
            <a:avLst/>
          </a:prstGeom>
          <a:noFill/>
          <a:ln/>
        </p:spPr>
        <p:txBody>
          <a:bodyPr wrap="square" lIns="0" tIns="0" rIns="0" bIns="0" rtlCol="0" anchor="ctr"/>
          <a:lstStyle/>
          <a:p>
            <a:pPr indent="0" marL="0">
              <a:buNone/>
            </a:pPr>
            <a:r>
              <a:rPr lang="en-US" sz="1400" b="1" dirty="0">
                <a:solidFill>
                  <a:srgbClr val="1E6B3A"/>
                </a:solidFill>
                <a:latin typeface="Meiryo" pitchFamily="34" charset="0"/>
                <a:ea typeface="Meiryo" pitchFamily="34" charset="-122"/>
                <a:cs typeface="Meiryo" pitchFamily="34" charset="-120"/>
              </a:rPr>
              <a:t>実施予定・解決策</a:t>
            </a:r>
            <a:endParaRPr lang="en-US" sz="1400" dirty="0"/>
          </a:p>
        </p:txBody>
      </p:sp>
      <p:sp>
        <p:nvSpPr>
          <p:cNvPr id="7" name="Shape 5"/>
          <p:cNvSpPr/>
          <p:nvPr/>
        </p:nvSpPr>
        <p:spPr>
          <a:xfrm>
            <a:off x="457200" y="1600200"/>
            <a:ext cx="4023360" cy="987552"/>
          </a:xfrm>
          <a:prstGeom prst="roundRect">
            <a:avLst>
              <a:gd name="adj" fmla="val 5556"/>
            </a:avLst>
          </a:prstGeom>
          <a:solidFill>
            <a:srgbClr val="FBEEEC"/>
          </a:solidFill>
          <a:ln/>
        </p:spPr>
      </p:sp>
      <p:sp>
        <p:nvSpPr>
          <p:cNvPr id="8" name="Text 6"/>
          <p:cNvSpPr/>
          <p:nvPr/>
        </p:nvSpPr>
        <p:spPr>
          <a:xfrm>
            <a:off x="640080" y="1655064"/>
            <a:ext cx="3657600" cy="877824"/>
          </a:xfrm>
          <a:prstGeom prst="rect">
            <a:avLst/>
          </a:prstGeom>
          <a:noFill/>
          <a:ln/>
        </p:spPr>
        <p:txBody>
          <a:bodyPr wrap="square" lIns="0" tIns="0" rIns="0" bIns="0" rtlCol="0" anchor="ctr"/>
          <a:lstStyle/>
          <a:p>
            <a:pPr indent="0" marL="0">
              <a:buNone/>
            </a:pPr>
            <a:r>
              <a:rPr lang="en-US" sz="1100" dirty="0">
                <a:solidFill>
                  <a:srgbClr val="1B2A20"/>
                </a:solidFill>
                <a:latin typeface="Meiryo" pitchFamily="34" charset="0"/>
                <a:ea typeface="Meiryo" pitchFamily="34" charset="-122"/>
                <a:cs typeface="Meiryo" pitchFamily="34" charset="-120"/>
              </a:rPr>
              <a:t>7〜8月に退会予定が10名。退会理由は「予約が取りづらい」が複数を占め、混雑時間帯の予約体験に課題。</a:t>
            </a:r>
            <a:endParaRPr lang="en-US" sz="1100" dirty="0"/>
          </a:p>
        </p:txBody>
      </p:sp>
      <p:sp>
        <p:nvSpPr>
          <p:cNvPr id="9" name="Shape 7"/>
          <p:cNvSpPr/>
          <p:nvPr/>
        </p:nvSpPr>
        <p:spPr>
          <a:xfrm>
            <a:off x="4663440" y="1600200"/>
            <a:ext cx="4023360" cy="987552"/>
          </a:xfrm>
          <a:prstGeom prst="roundRect">
            <a:avLst>
              <a:gd name="adj" fmla="val 5556"/>
            </a:avLst>
          </a:prstGeom>
          <a:solidFill>
            <a:srgbClr val="E7EFE8"/>
          </a:solidFill>
          <a:ln/>
        </p:spPr>
      </p:sp>
      <p:sp>
        <p:nvSpPr>
          <p:cNvPr id="10" name="Text 8"/>
          <p:cNvSpPr/>
          <p:nvPr/>
        </p:nvSpPr>
        <p:spPr>
          <a:xfrm>
            <a:off x="4846320" y="1655064"/>
            <a:ext cx="3657600" cy="877824"/>
          </a:xfrm>
          <a:prstGeom prst="rect">
            <a:avLst/>
          </a:prstGeom>
          <a:noFill/>
          <a:ln/>
        </p:spPr>
        <p:txBody>
          <a:bodyPr wrap="square" lIns="0" tIns="0" rIns="0" bIns="0" rtlCol="0" anchor="ctr"/>
          <a:lstStyle/>
          <a:p>
            <a:pPr indent="0" marL="0">
              <a:buNone/>
            </a:pPr>
            <a:r>
              <a:rPr lang="en-US" sz="1100" dirty="0">
                <a:solidFill>
                  <a:srgbClr val="1B2A20"/>
                </a:solidFill>
                <a:latin typeface="Meiryo" pitchFamily="34" charset="0"/>
                <a:ea typeface="Meiryo" pitchFamily="34" charset="-122"/>
                <a:cs typeface="Meiryo" pitchFamily="34" charset="-120"/>
              </a:rPr>
              <a:t>【退会予定対策】退会予定10名へ担当コーチからの面談＋休会提案（退会回避）を7月上旬までに実施。特に「予約が取りづらい」層へ空き枠の可視化・予約導線を改善。</a:t>
            </a:r>
            <a:endParaRPr lang="en-US" sz="1100" dirty="0"/>
          </a:p>
        </p:txBody>
      </p:sp>
      <p:sp>
        <p:nvSpPr>
          <p:cNvPr id="11" name="Shape 9"/>
          <p:cNvSpPr/>
          <p:nvPr/>
        </p:nvSpPr>
        <p:spPr>
          <a:xfrm>
            <a:off x="4526280" y="2011680"/>
            <a:ext cx="182880" cy="0"/>
          </a:xfrm>
          <a:prstGeom prst="line">
            <a:avLst/>
          </a:prstGeom>
          <a:noFill/>
          <a:ln w="25400">
            <a:solidFill>
              <a:srgbClr val="C9A24B"/>
            </a:solidFill>
            <a:prstDash val="solid"/>
            <a:tailEnd type="triangle"/>
          </a:ln>
        </p:spPr>
      </p:sp>
      <p:sp>
        <p:nvSpPr>
          <p:cNvPr id="12" name="Shape 10"/>
          <p:cNvSpPr/>
          <p:nvPr/>
        </p:nvSpPr>
        <p:spPr>
          <a:xfrm>
            <a:off x="457200" y="2752344"/>
            <a:ext cx="4023360" cy="987552"/>
          </a:xfrm>
          <a:prstGeom prst="roundRect">
            <a:avLst>
              <a:gd name="adj" fmla="val 5556"/>
            </a:avLst>
          </a:prstGeom>
          <a:solidFill>
            <a:srgbClr val="FBEEEC"/>
          </a:solidFill>
          <a:ln/>
        </p:spPr>
      </p:sp>
      <p:sp>
        <p:nvSpPr>
          <p:cNvPr id="13" name="Text 11"/>
          <p:cNvSpPr/>
          <p:nvPr/>
        </p:nvSpPr>
        <p:spPr>
          <a:xfrm>
            <a:off x="640080" y="2807208"/>
            <a:ext cx="3657600" cy="877824"/>
          </a:xfrm>
          <a:prstGeom prst="rect">
            <a:avLst/>
          </a:prstGeom>
          <a:noFill/>
          <a:ln/>
        </p:spPr>
        <p:txBody>
          <a:bodyPr wrap="square" lIns="0" tIns="0" rIns="0" bIns="0" rtlCol="0" anchor="ctr"/>
          <a:lstStyle/>
          <a:p>
            <a:pPr indent="0" marL="0">
              <a:buNone/>
            </a:pPr>
            <a:r>
              <a:rPr lang="en-US" sz="1100" dirty="0">
                <a:solidFill>
                  <a:srgbClr val="1B2A20"/>
                </a:solidFill>
                <a:latin typeface="Meiryo" pitchFamily="34" charset="0"/>
                <a:ea typeface="Meiryo" pitchFamily="34" charset="-122"/>
                <a:cs typeface="Meiryo" pitchFamily="34" charset="-120"/>
              </a:rPr>
              <a:t>フィッティングは伸びたが、フィッティング→クラブ購入（物販）への転換が弱く、単発で終わりやすい。</a:t>
            </a:r>
            <a:endParaRPr lang="en-US" sz="1100" dirty="0"/>
          </a:p>
        </p:txBody>
      </p:sp>
      <p:sp>
        <p:nvSpPr>
          <p:cNvPr id="14" name="Shape 12"/>
          <p:cNvSpPr/>
          <p:nvPr/>
        </p:nvSpPr>
        <p:spPr>
          <a:xfrm>
            <a:off x="4663440" y="2752344"/>
            <a:ext cx="4023360" cy="987552"/>
          </a:xfrm>
          <a:prstGeom prst="roundRect">
            <a:avLst>
              <a:gd name="adj" fmla="val 5556"/>
            </a:avLst>
          </a:prstGeom>
          <a:solidFill>
            <a:srgbClr val="E7EFE8"/>
          </a:solidFill>
          <a:ln/>
        </p:spPr>
      </p:sp>
      <p:sp>
        <p:nvSpPr>
          <p:cNvPr id="15" name="Text 13"/>
          <p:cNvSpPr/>
          <p:nvPr/>
        </p:nvSpPr>
        <p:spPr>
          <a:xfrm>
            <a:off x="4846320" y="2807208"/>
            <a:ext cx="3657600" cy="877824"/>
          </a:xfrm>
          <a:prstGeom prst="rect">
            <a:avLst/>
          </a:prstGeom>
          <a:noFill/>
          <a:ln/>
        </p:spPr>
        <p:txBody>
          <a:bodyPr wrap="square" lIns="0" tIns="0" rIns="0" bIns="0" rtlCol="0" anchor="ctr"/>
          <a:lstStyle/>
          <a:p>
            <a:pPr indent="0" marL="0">
              <a:buNone/>
            </a:pPr>
            <a:r>
              <a:rPr lang="en-US" sz="1100" dirty="0">
                <a:solidFill>
                  <a:srgbClr val="1B2A20"/>
                </a:solidFill>
                <a:latin typeface="Meiryo" pitchFamily="34" charset="0"/>
                <a:ea typeface="Meiryo" pitchFamily="34" charset="-122"/>
                <a:cs typeface="Meiryo" pitchFamily="34" charset="-120"/>
              </a:rPr>
              <a:t>【物販転換】フィッティング実施者へ後日クラブ提案を行う「試打→見積→購入」フローを整備。フィッティング時に見積書を即時発行できる運用を7月中に開始。</a:t>
            </a:r>
            <a:endParaRPr lang="en-US" sz="1100" dirty="0"/>
          </a:p>
        </p:txBody>
      </p:sp>
      <p:sp>
        <p:nvSpPr>
          <p:cNvPr id="16" name="Shape 14"/>
          <p:cNvSpPr/>
          <p:nvPr/>
        </p:nvSpPr>
        <p:spPr>
          <a:xfrm>
            <a:off x="4526280" y="3163824"/>
            <a:ext cx="182880" cy="0"/>
          </a:xfrm>
          <a:prstGeom prst="line">
            <a:avLst/>
          </a:prstGeom>
          <a:noFill/>
          <a:ln w="25400">
            <a:solidFill>
              <a:srgbClr val="C9A24B"/>
            </a:solidFill>
            <a:prstDash val="solid"/>
            <a:tailEnd type="triangle"/>
          </a:ln>
        </p:spPr>
      </p:sp>
      <p:sp>
        <p:nvSpPr>
          <p:cNvPr id="17" name="Shape 15"/>
          <p:cNvSpPr/>
          <p:nvPr/>
        </p:nvSpPr>
        <p:spPr>
          <a:xfrm>
            <a:off x="457200" y="3904488"/>
            <a:ext cx="4023360" cy="987552"/>
          </a:xfrm>
          <a:prstGeom prst="roundRect">
            <a:avLst>
              <a:gd name="adj" fmla="val 5556"/>
            </a:avLst>
          </a:prstGeom>
          <a:solidFill>
            <a:srgbClr val="FBEEEC"/>
          </a:solidFill>
          <a:ln/>
        </p:spPr>
      </p:sp>
      <p:sp>
        <p:nvSpPr>
          <p:cNvPr id="18" name="Text 16"/>
          <p:cNvSpPr/>
          <p:nvPr/>
        </p:nvSpPr>
        <p:spPr>
          <a:xfrm>
            <a:off x="640080" y="3959352"/>
            <a:ext cx="3657600" cy="877824"/>
          </a:xfrm>
          <a:prstGeom prst="rect">
            <a:avLst/>
          </a:prstGeom>
          <a:noFill/>
          <a:ln/>
        </p:spPr>
        <p:txBody>
          <a:bodyPr wrap="square" lIns="0" tIns="0" rIns="0" bIns="0" rtlCol="0" anchor="ctr"/>
          <a:lstStyle/>
          <a:p>
            <a:pPr indent="0" marL="0">
              <a:buNone/>
            </a:pPr>
            <a:r>
              <a:rPr lang="en-US" sz="1100" dirty="0">
                <a:solidFill>
                  <a:srgbClr val="1B2A20"/>
                </a:solidFill>
                <a:latin typeface="Meiryo" pitchFamily="34" charset="0"/>
                <a:ea typeface="Meiryo" pitchFamily="34" charset="-122"/>
                <a:cs typeface="Meiryo" pitchFamily="34" charset="-120"/>
              </a:rPr>
              <a:t>体験予約は37件と多いが、入会への転換にばらつき。担当・曜日による差が見える。</a:t>
            </a:r>
            <a:endParaRPr lang="en-US" sz="1100" dirty="0"/>
          </a:p>
        </p:txBody>
      </p:sp>
      <p:sp>
        <p:nvSpPr>
          <p:cNvPr id="19" name="Shape 17"/>
          <p:cNvSpPr/>
          <p:nvPr/>
        </p:nvSpPr>
        <p:spPr>
          <a:xfrm>
            <a:off x="4663440" y="3904488"/>
            <a:ext cx="4023360" cy="987552"/>
          </a:xfrm>
          <a:prstGeom prst="roundRect">
            <a:avLst>
              <a:gd name="adj" fmla="val 5556"/>
            </a:avLst>
          </a:prstGeom>
          <a:solidFill>
            <a:srgbClr val="E7EFE8"/>
          </a:solidFill>
          <a:ln/>
        </p:spPr>
      </p:sp>
      <p:sp>
        <p:nvSpPr>
          <p:cNvPr id="20" name="Text 18"/>
          <p:cNvSpPr/>
          <p:nvPr/>
        </p:nvSpPr>
        <p:spPr>
          <a:xfrm>
            <a:off x="4846320" y="3959352"/>
            <a:ext cx="3657600" cy="877824"/>
          </a:xfrm>
          <a:prstGeom prst="rect">
            <a:avLst/>
          </a:prstGeom>
          <a:noFill/>
          <a:ln/>
        </p:spPr>
        <p:txBody>
          <a:bodyPr wrap="square" lIns="0" tIns="0" rIns="0" bIns="0" rtlCol="0" anchor="ctr"/>
          <a:lstStyle/>
          <a:p>
            <a:pPr indent="0" marL="0">
              <a:buNone/>
            </a:pPr>
            <a:r>
              <a:rPr lang="en-US" sz="1100" dirty="0">
                <a:solidFill>
                  <a:srgbClr val="1B2A20"/>
                </a:solidFill>
                <a:latin typeface="Meiryo" pitchFamily="34" charset="0"/>
                <a:ea typeface="Meiryo" pitchFamily="34" charset="-122"/>
                <a:cs typeface="Meiryo" pitchFamily="34" charset="-120"/>
              </a:rPr>
              <a:t>【入会率改善】体験→入会の突合データから、転換率の高い担当・曜日・プログラムを特定し、体験枠の配置を最適化する。</a:t>
            </a:r>
            <a:endParaRPr lang="en-US" sz="1100" dirty="0"/>
          </a:p>
        </p:txBody>
      </p:sp>
      <p:sp>
        <p:nvSpPr>
          <p:cNvPr id="21" name="Shape 19"/>
          <p:cNvSpPr/>
          <p:nvPr/>
        </p:nvSpPr>
        <p:spPr>
          <a:xfrm>
            <a:off x="4526280" y="4315968"/>
            <a:ext cx="182880" cy="0"/>
          </a:xfrm>
          <a:prstGeom prst="line">
            <a:avLst/>
          </a:prstGeom>
          <a:noFill/>
          <a:ln w="25400">
            <a:solidFill>
              <a:srgbClr val="C9A24B"/>
            </a:solidFill>
            <a:prstDash val="solid"/>
            <a:tailEnd type="triangle"/>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498080" cy="548640"/>
          </a:xfrm>
          <a:prstGeom prst="rect">
            <a:avLst/>
          </a:prstGeom>
          <a:noFill/>
          <a:ln/>
        </p:spPr>
        <p:txBody>
          <a:bodyPr wrap="square" lIns="0" tIns="0" rIns="0" bIns="0" rtlCol="0" anchor="ctr"/>
          <a:lstStyle/>
          <a:p>
            <a:pPr indent="0" marL="0">
              <a:buNone/>
            </a:pPr>
            <a:r>
              <a:rPr lang="en-US" sz="2600" b="1" dirty="0">
                <a:solidFill>
                  <a:srgbClr val="1B2A20"/>
                </a:solidFill>
                <a:latin typeface="Meiryo" pitchFamily="34" charset="0"/>
                <a:ea typeface="Meiryo" pitchFamily="34" charset="-122"/>
                <a:cs typeface="Meiryo" pitchFamily="34" charset="-120"/>
              </a:rPr>
              <a:t>その他 情報共有事項</a:t>
            </a:r>
            <a:endParaRPr lang="en-US" sz="2600" dirty="0"/>
          </a:p>
        </p:txBody>
      </p:sp>
      <p:sp>
        <p:nvSpPr>
          <p:cNvPr id="3" name="Text 1"/>
          <p:cNvSpPr/>
          <p:nvPr/>
        </p:nvSpPr>
        <p:spPr>
          <a:xfrm>
            <a:off x="457200" y="822960"/>
            <a:ext cx="7315200" cy="274320"/>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GOLF WING　2026年6月</a:t>
            </a:r>
            <a:endParaRPr lang="en-US" sz="1100" dirty="0"/>
          </a:p>
        </p:txBody>
      </p:sp>
      <p:sp>
        <p:nvSpPr>
          <p:cNvPr id="4" name="Text 2"/>
          <p:cNvSpPr/>
          <p:nvPr/>
        </p:nvSpPr>
        <p:spPr>
          <a:xfrm>
            <a:off x="8229600" y="274320"/>
            <a:ext cx="548640" cy="548640"/>
          </a:xfrm>
          <a:prstGeom prst="rect">
            <a:avLst/>
          </a:prstGeom>
          <a:noFill/>
          <a:ln/>
        </p:spPr>
        <p:txBody>
          <a:bodyPr wrap="square" rtlCol="0" anchor="ctr"/>
          <a:lstStyle/>
          <a:p>
            <a:pPr algn="r" indent="0" marL="0">
              <a:buNone/>
            </a:pPr>
            <a:r>
              <a:rPr lang="en-US" sz="2400" b="1" dirty="0">
                <a:solidFill>
                  <a:srgbClr val="E7EFE8"/>
                </a:solidFill>
                <a:latin typeface="Meiryo" pitchFamily="34" charset="0"/>
                <a:ea typeface="Meiryo" pitchFamily="34" charset="-122"/>
                <a:cs typeface="Meiryo" pitchFamily="34" charset="-120"/>
              </a:rPr>
              <a:t>07</a:t>
            </a:r>
            <a:endParaRPr lang="en-US" sz="2400" dirty="0"/>
          </a:p>
        </p:txBody>
      </p:sp>
      <p:sp>
        <p:nvSpPr>
          <p:cNvPr id="5" name="Shape 3"/>
          <p:cNvSpPr/>
          <p:nvPr/>
        </p:nvSpPr>
        <p:spPr>
          <a:xfrm>
            <a:off x="502920" y="1819656"/>
            <a:ext cx="118872" cy="118872"/>
          </a:xfrm>
          <a:prstGeom prst="ellipse">
            <a:avLst/>
          </a:prstGeom>
          <a:solidFill>
            <a:srgbClr val="C9A24B"/>
          </a:solidFill>
          <a:ln/>
        </p:spPr>
      </p:sp>
      <p:sp>
        <p:nvSpPr>
          <p:cNvPr id="6" name="Text 4"/>
          <p:cNvSpPr/>
          <p:nvPr/>
        </p:nvSpPr>
        <p:spPr>
          <a:xfrm>
            <a:off x="822960" y="1371600"/>
            <a:ext cx="7863840" cy="1005840"/>
          </a:xfrm>
          <a:prstGeom prst="rect">
            <a:avLst/>
          </a:prstGeom>
          <a:noFill/>
          <a:ln/>
        </p:spPr>
        <p:txBody>
          <a:bodyPr wrap="square" lIns="0" tIns="0" rIns="0" bIns="0" rtlCol="0" anchor="ctr"/>
          <a:lstStyle/>
          <a:p>
            <a:pPr indent="0" marL="0">
              <a:buNone/>
            </a:pPr>
            <a:r>
              <a:rPr lang="en-US" sz="1250" dirty="0">
                <a:solidFill>
                  <a:srgbClr val="1B2A20"/>
                </a:solidFill>
                <a:latin typeface="Meiryo" pitchFamily="34" charset="0"/>
                <a:ea typeface="Meiryo" pitchFamily="34" charset="-122"/>
                <a:cs typeface="Meiryo" pitchFamily="34" charset="-120"/>
              </a:rPr>
              <a:t>会員数は会員名簿の会員種類名に準拠。正会員は「スタッフ・モニター会員・法人会員2枚目・トライアル会員」を除外して集計（当月末退会者は当月から除外）。</a:t>
            </a:r>
            <a:endParaRPr lang="en-US" sz="1250" dirty="0"/>
          </a:p>
        </p:txBody>
      </p:sp>
      <p:sp>
        <p:nvSpPr>
          <p:cNvPr id="7" name="Shape 5"/>
          <p:cNvSpPr/>
          <p:nvPr/>
        </p:nvSpPr>
        <p:spPr>
          <a:xfrm>
            <a:off x="502920" y="3008376"/>
            <a:ext cx="118872" cy="118872"/>
          </a:xfrm>
          <a:prstGeom prst="ellipse">
            <a:avLst/>
          </a:prstGeom>
          <a:solidFill>
            <a:srgbClr val="C9A24B"/>
          </a:solidFill>
          <a:ln/>
        </p:spPr>
      </p:sp>
      <p:sp>
        <p:nvSpPr>
          <p:cNvPr id="8" name="Text 6"/>
          <p:cNvSpPr/>
          <p:nvPr/>
        </p:nvSpPr>
        <p:spPr>
          <a:xfrm>
            <a:off x="822960" y="2560320"/>
            <a:ext cx="7863840" cy="1005840"/>
          </a:xfrm>
          <a:prstGeom prst="rect">
            <a:avLst/>
          </a:prstGeom>
          <a:noFill/>
          <a:ln/>
        </p:spPr>
        <p:txBody>
          <a:bodyPr wrap="square" lIns="0" tIns="0" rIns="0" bIns="0" rtlCol="0" anchor="ctr"/>
          <a:lstStyle/>
          <a:p>
            <a:pPr indent="0" marL="0">
              <a:buNone/>
            </a:pPr>
            <a:r>
              <a:rPr lang="en-US" sz="1250" dirty="0">
                <a:solidFill>
                  <a:srgbClr val="1B2A20"/>
                </a:solidFill>
                <a:latin typeface="Meiryo" pitchFamily="34" charset="0"/>
                <a:ea typeface="Meiryo" pitchFamily="34" charset="-122"/>
                <a:cs typeface="Meiryo" pitchFamily="34" charset="-120"/>
              </a:rPr>
              <a:t>7/1より夏季営業時間（平日〜23時）に変更。スタッフシフトはShift Cloudで調整済み。</a:t>
            </a:r>
            <a:endParaRPr lang="en-US" sz="1250" dirty="0"/>
          </a:p>
        </p:txBody>
      </p:sp>
      <p:sp>
        <p:nvSpPr>
          <p:cNvPr id="9" name="Shape 7"/>
          <p:cNvSpPr/>
          <p:nvPr/>
        </p:nvSpPr>
        <p:spPr>
          <a:xfrm>
            <a:off x="502920" y="4197096"/>
            <a:ext cx="118872" cy="118872"/>
          </a:xfrm>
          <a:prstGeom prst="ellipse">
            <a:avLst/>
          </a:prstGeom>
          <a:solidFill>
            <a:srgbClr val="C9A24B"/>
          </a:solidFill>
          <a:ln/>
        </p:spPr>
      </p:sp>
      <p:sp>
        <p:nvSpPr>
          <p:cNvPr id="10" name="Text 8"/>
          <p:cNvSpPr/>
          <p:nvPr/>
        </p:nvSpPr>
        <p:spPr>
          <a:xfrm>
            <a:off x="822960" y="3749040"/>
            <a:ext cx="7863840" cy="1005840"/>
          </a:xfrm>
          <a:prstGeom prst="rect">
            <a:avLst/>
          </a:prstGeom>
          <a:noFill/>
          <a:ln/>
        </p:spPr>
        <p:txBody>
          <a:bodyPr wrap="square" lIns="0" tIns="0" rIns="0" bIns="0" rtlCol="0" anchor="ctr"/>
          <a:lstStyle/>
          <a:p>
            <a:pPr indent="0" marL="0">
              <a:buNone/>
            </a:pPr>
            <a:r>
              <a:rPr lang="en-US" sz="1250" dirty="0">
                <a:solidFill>
                  <a:srgbClr val="1B2A20"/>
                </a:solidFill>
                <a:latin typeface="Meiryo" pitchFamily="34" charset="0"/>
                <a:ea typeface="Meiryo" pitchFamily="34" charset="-122"/>
                <a:cs typeface="Meiryo" pitchFamily="34" charset="-120"/>
              </a:rPr>
              <a:t>会員名簿・売上・勤怠はYOZAN GENESISに接続済み。物販売上・フィッティング件数の自動記録は次フェーズで対応予定。</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498080" cy="548640"/>
          </a:xfrm>
          <a:prstGeom prst="rect">
            <a:avLst/>
          </a:prstGeom>
          <a:noFill/>
          <a:ln/>
        </p:spPr>
        <p:txBody>
          <a:bodyPr wrap="square" lIns="0" tIns="0" rIns="0" bIns="0" rtlCol="0" anchor="ctr"/>
          <a:lstStyle/>
          <a:p>
            <a:pPr indent="0" marL="0">
              <a:buNone/>
            </a:pPr>
            <a:r>
              <a:rPr lang="en-US" sz="2600" b="1" dirty="0">
                <a:solidFill>
                  <a:srgbClr val="1B2A20"/>
                </a:solidFill>
                <a:latin typeface="Meiryo" pitchFamily="34" charset="0"/>
                <a:ea typeface="Meiryo" pitchFamily="34" charset="-122"/>
                <a:cs typeface="Meiryo" pitchFamily="34" charset="-120"/>
              </a:rPr>
              <a:t>指標一覧</a:t>
            </a:r>
            <a:endParaRPr lang="en-US" sz="2600" dirty="0"/>
          </a:p>
        </p:txBody>
      </p:sp>
      <p:sp>
        <p:nvSpPr>
          <p:cNvPr id="3" name="Text 1"/>
          <p:cNvSpPr/>
          <p:nvPr/>
        </p:nvSpPr>
        <p:spPr>
          <a:xfrm>
            <a:off x="457200" y="822960"/>
            <a:ext cx="7315200" cy="274320"/>
          </a:xfrm>
          <a:prstGeom prst="rect">
            <a:avLst/>
          </a:prstGeom>
          <a:noFill/>
          <a:ln/>
        </p:spPr>
        <p:txBody>
          <a:bodyPr wrap="square" lIns="0" tIns="0" rIns="0" bIns="0" rtlCol="0" anchor="ctr"/>
          <a:lstStyle/>
          <a:p>
            <a:pPr indent="0" marL="0">
              <a:buNone/>
            </a:pPr>
            <a:r>
              <a:rPr lang="en-US" sz="1100" dirty="0">
                <a:solidFill>
                  <a:srgbClr val="6B7B70"/>
                </a:solidFill>
                <a:latin typeface="Meiryo" pitchFamily="34" charset="0"/>
                <a:ea typeface="Meiryo" pitchFamily="34" charset="-122"/>
                <a:cs typeface="Meiryo" pitchFamily="34" charset="-120"/>
              </a:rPr>
              <a:t>GOLF WING　2026年6月</a:t>
            </a:r>
            <a:endParaRPr lang="en-US" sz="1100" dirty="0"/>
          </a:p>
        </p:txBody>
      </p:sp>
      <p:sp>
        <p:nvSpPr>
          <p:cNvPr id="4" name="Text 2"/>
          <p:cNvSpPr/>
          <p:nvPr/>
        </p:nvSpPr>
        <p:spPr>
          <a:xfrm>
            <a:off x="8229600" y="274320"/>
            <a:ext cx="548640" cy="548640"/>
          </a:xfrm>
          <a:prstGeom prst="rect">
            <a:avLst/>
          </a:prstGeom>
          <a:noFill/>
          <a:ln/>
        </p:spPr>
        <p:txBody>
          <a:bodyPr wrap="square" rtlCol="0" anchor="ctr"/>
          <a:lstStyle/>
          <a:p>
            <a:pPr algn="r" indent="0" marL="0">
              <a:buNone/>
            </a:pPr>
            <a:r>
              <a:rPr lang="en-US" sz="2400" b="1" dirty="0">
                <a:solidFill>
                  <a:srgbClr val="E7EFE8"/>
                </a:solidFill>
                <a:latin typeface="Meiryo" pitchFamily="34" charset="0"/>
                <a:ea typeface="Meiryo" pitchFamily="34" charset="-122"/>
                <a:cs typeface="Meiryo" pitchFamily="34" charset="-120"/>
              </a:rPr>
              <a:t>08</a:t>
            </a:r>
            <a:endParaRPr lang="en-US" sz="2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737360"/>
                <a:gridCol w="1005840"/>
                <a:gridCol w="1005840"/>
                <a:gridCol w="1554480"/>
                <a:gridCol w="1051560"/>
                <a:gridCol w="1874520"/>
              </a:tblGrid>
              <a:tr h="342900">
                <a:tc>
                  <a:txBody>
                    <a:bodyPr/>
                    <a:lstStyle/>
                    <a:p>
                      <a:pPr algn="ctr" indent="0" marL="0">
                        <a:buNone/>
                      </a:pPr>
                      <a:r>
                        <a:rPr lang="en-US" sz="1150" b="1" dirty="0">
                          <a:solidFill>
                            <a:srgbClr val="FFFFFF"/>
                          </a:solidFill>
                          <a:latin typeface="Meiryo" pitchFamily="34" charset="0"/>
                          <a:ea typeface="Meiryo" pitchFamily="34" charset="-122"/>
                          <a:cs typeface="Meiryo" pitchFamily="34" charset="-120"/>
                        </a:rPr>
                        <a:t>指標</a:t>
                      </a:r>
                      <a:endParaRPr lang="en-US" sz="11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13311E"/>
                    </a:solidFill>
                  </a:tcPr>
                </a:tc>
                <a:tc>
                  <a:txBody>
                    <a:bodyPr/>
                    <a:lstStyle/>
                    <a:p>
                      <a:pPr algn="ctr" indent="0" marL="0">
                        <a:buNone/>
                      </a:pPr>
                      <a:r>
                        <a:rPr lang="en-US" sz="1150" b="1" dirty="0">
                          <a:solidFill>
                            <a:srgbClr val="FFFFFF"/>
                          </a:solidFill>
                          <a:latin typeface="Meiryo" pitchFamily="34" charset="0"/>
                          <a:ea typeface="Meiryo" pitchFamily="34" charset="-122"/>
                          <a:cs typeface="Meiryo" pitchFamily="34" charset="-120"/>
                        </a:rPr>
                        <a:t>当月</a:t>
                      </a:r>
                      <a:endParaRPr lang="en-US" sz="11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13311E"/>
                    </a:solidFill>
                  </a:tcPr>
                </a:tc>
                <a:tc>
                  <a:txBody>
                    <a:bodyPr/>
                    <a:lstStyle/>
                    <a:p>
                      <a:pPr algn="ctr" indent="0" marL="0">
                        <a:buNone/>
                      </a:pPr>
                      <a:r>
                        <a:rPr lang="en-US" sz="1150" b="1" dirty="0">
                          <a:solidFill>
                            <a:srgbClr val="FFFFFF"/>
                          </a:solidFill>
                          <a:latin typeface="Meiryo" pitchFamily="34" charset="0"/>
                          <a:ea typeface="Meiryo" pitchFamily="34" charset="-122"/>
                          <a:cs typeface="Meiryo" pitchFamily="34" charset="-120"/>
                        </a:rPr>
                        <a:t>前月</a:t>
                      </a:r>
                      <a:endParaRPr lang="en-US" sz="11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13311E"/>
                    </a:solidFill>
                  </a:tcPr>
                </a:tc>
                <a:tc>
                  <a:txBody>
                    <a:bodyPr/>
                    <a:lstStyle/>
                    <a:p>
                      <a:pPr algn="ctr" indent="0" marL="0">
                        <a:buNone/>
                      </a:pPr>
                      <a:r>
                        <a:rPr lang="en-US" sz="1150" b="1" dirty="0">
                          <a:solidFill>
                            <a:srgbClr val="FFFFFF"/>
                          </a:solidFill>
                          <a:latin typeface="Meiryo" pitchFamily="34" charset="0"/>
                          <a:ea typeface="Meiryo" pitchFamily="34" charset="-122"/>
                          <a:cs typeface="Meiryo" pitchFamily="34" charset="-120"/>
                        </a:rPr>
                        <a:t>前月比</a:t>
                      </a:r>
                      <a:endParaRPr lang="en-US" sz="11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13311E"/>
                    </a:solidFill>
                  </a:tcPr>
                </a:tc>
                <a:tc>
                  <a:txBody>
                    <a:bodyPr/>
                    <a:lstStyle/>
                    <a:p>
                      <a:pPr algn="ctr" indent="0" marL="0">
                        <a:buNone/>
                      </a:pPr>
                      <a:r>
                        <a:rPr lang="en-US" sz="1150" b="1" dirty="0">
                          <a:solidFill>
                            <a:srgbClr val="FFFFFF"/>
                          </a:solidFill>
                          <a:latin typeface="Meiryo" pitchFamily="34" charset="0"/>
                          <a:ea typeface="Meiryo" pitchFamily="34" charset="-122"/>
                          <a:cs typeface="Meiryo" pitchFamily="34" charset="-120"/>
                        </a:rPr>
                        <a:t>前年同月</a:t>
                      </a:r>
                      <a:endParaRPr lang="en-US" sz="11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13311E"/>
                    </a:solidFill>
                  </a:tcPr>
                </a:tc>
                <a:tc>
                  <a:txBody>
                    <a:bodyPr/>
                    <a:lstStyle/>
                    <a:p>
                      <a:pPr algn="ctr" indent="0" marL="0">
                        <a:buNone/>
                      </a:pPr>
                      <a:r>
                        <a:rPr lang="en-US" sz="1150" b="1" dirty="0">
                          <a:solidFill>
                            <a:srgbClr val="FFFFFF"/>
                          </a:solidFill>
                          <a:latin typeface="Meiryo" pitchFamily="34" charset="0"/>
                          <a:ea typeface="Meiryo" pitchFamily="34" charset="-122"/>
                          <a:cs typeface="Meiryo" pitchFamily="34" charset="-120"/>
                        </a:rPr>
                        <a:t>前年比</a:t>
                      </a:r>
                      <a:endParaRPr lang="en-US" sz="11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13311E"/>
                    </a:solidFill>
                  </a:tcPr>
                </a:tc>
              </a:tr>
              <a:tr h="342900">
                <a:tc>
                  <a:txBody>
                    <a:bodyPr/>
                    <a:lstStyle/>
                    <a:p>
                      <a:pPr algn="l" indent="0" marL="0">
                        <a:buNone/>
                      </a:pPr>
                      <a:r>
                        <a:rPr lang="en-US" sz="1050" b="1" dirty="0">
                          <a:solidFill>
                            <a:srgbClr val="1B2A20"/>
                          </a:solidFill>
                          <a:latin typeface="Meiryo" pitchFamily="34" charset="0"/>
                          <a:ea typeface="Meiryo" pitchFamily="34" charset="-122"/>
                          <a:cs typeface="Meiryo" pitchFamily="34" charset="-120"/>
                        </a:rPr>
                        <a:t>会員数（正会員）</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2A20"/>
                          </a:solidFill>
                          <a:latin typeface="Meiryo" pitchFamily="34" charset="0"/>
                          <a:ea typeface="Meiryo" pitchFamily="34" charset="-122"/>
                          <a:cs typeface="Meiryo" pitchFamily="34" charset="-120"/>
                        </a:rPr>
                        <a:t>210人</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203人</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E6B3A"/>
                          </a:solidFill>
                          <a:latin typeface="Meiryo" pitchFamily="34" charset="0"/>
                          <a:ea typeface="Meiryo" pitchFamily="34" charset="-122"/>
                          <a:cs typeface="Meiryo" pitchFamily="34" charset="-120"/>
                        </a:rPr>
                        <a:t>+7人 (+3.4%)</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r>
              <a:tr h="342900">
                <a:tc>
                  <a:txBody>
                    <a:bodyPr/>
                    <a:lstStyle/>
                    <a:p>
                      <a:pPr algn="l" indent="0" marL="0">
                        <a:buNone/>
                      </a:pPr>
                      <a:r>
                        <a:rPr lang="en-US" sz="1050" b="1" dirty="0">
                          <a:solidFill>
                            <a:srgbClr val="1B2A20"/>
                          </a:solidFill>
                          <a:latin typeface="Meiryo" pitchFamily="34" charset="0"/>
                          <a:ea typeface="Meiryo" pitchFamily="34" charset="-122"/>
                          <a:cs typeface="Meiryo" pitchFamily="34" charset="-120"/>
                        </a:rPr>
                        <a:t>体験予約数</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b="1" dirty="0">
                          <a:solidFill>
                            <a:srgbClr val="1B2A20"/>
                          </a:solidFill>
                          <a:latin typeface="Meiryo" pitchFamily="34" charset="0"/>
                          <a:ea typeface="Meiryo" pitchFamily="34" charset="-122"/>
                          <a:cs typeface="Meiryo" pitchFamily="34" charset="-120"/>
                        </a:rPr>
                        <a:t>37件</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31件</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dirty="0">
                          <a:solidFill>
                            <a:srgbClr val="1E6B3A"/>
                          </a:solidFill>
                          <a:latin typeface="Meiryo" pitchFamily="34" charset="0"/>
                          <a:ea typeface="Meiryo" pitchFamily="34" charset="-122"/>
                          <a:cs typeface="Meiryo" pitchFamily="34" charset="-120"/>
                        </a:rPr>
                        <a:t>+6件 (+19.4%)</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24件</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dirty="0">
                          <a:solidFill>
                            <a:srgbClr val="1E6B3A"/>
                          </a:solidFill>
                          <a:latin typeface="Meiryo" pitchFamily="34" charset="0"/>
                          <a:ea typeface="Meiryo" pitchFamily="34" charset="-122"/>
                          <a:cs typeface="Meiryo" pitchFamily="34" charset="-120"/>
                        </a:rPr>
                        <a:t>+13件 (+54.2%)</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r>
              <a:tr h="342900">
                <a:tc>
                  <a:txBody>
                    <a:bodyPr/>
                    <a:lstStyle/>
                    <a:p>
                      <a:pPr algn="l" indent="0" marL="0">
                        <a:buNone/>
                      </a:pPr>
                      <a:r>
                        <a:rPr lang="en-US" sz="1050" b="1" dirty="0">
                          <a:solidFill>
                            <a:srgbClr val="1B2A20"/>
                          </a:solidFill>
                          <a:latin typeface="Meiryo" pitchFamily="34" charset="0"/>
                          <a:ea typeface="Meiryo" pitchFamily="34" charset="-122"/>
                          <a:cs typeface="Meiryo" pitchFamily="34" charset="-120"/>
                        </a:rPr>
                        <a:t>入会率</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2A20"/>
                          </a:solidFill>
                          <a:latin typeface="Meiryo" pitchFamily="34" charset="0"/>
                          <a:ea typeface="Meiryo" pitchFamily="34" charset="-122"/>
                          <a:cs typeface="Meiryo" pitchFamily="34" charset="-120"/>
                        </a:rPr>
                        <a:t>62.5%</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55%</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E6B3A"/>
                          </a:solidFill>
                          <a:latin typeface="Meiryo" pitchFamily="34" charset="0"/>
                          <a:ea typeface="Meiryo" pitchFamily="34" charset="-122"/>
                          <a:cs typeface="Meiryo" pitchFamily="34" charset="-120"/>
                        </a:rPr>
                        <a:t>+7.5pt (+13.6%)</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48%</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E6B3A"/>
                          </a:solidFill>
                          <a:latin typeface="Meiryo" pitchFamily="34" charset="0"/>
                          <a:ea typeface="Meiryo" pitchFamily="34" charset="-122"/>
                          <a:cs typeface="Meiryo" pitchFamily="34" charset="-120"/>
                        </a:rPr>
                        <a:t>+14.5pt (+30.2%)</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r>
              <a:tr h="342900">
                <a:tc>
                  <a:txBody>
                    <a:bodyPr/>
                    <a:lstStyle/>
                    <a:p>
                      <a:pPr algn="l" indent="0" marL="0">
                        <a:buNone/>
                      </a:pPr>
                      <a:r>
                        <a:rPr lang="en-US" sz="1050" b="1" dirty="0">
                          <a:solidFill>
                            <a:srgbClr val="1B2A20"/>
                          </a:solidFill>
                          <a:latin typeface="Meiryo" pitchFamily="34" charset="0"/>
                          <a:ea typeface="Meiryo" pitchFamily="34" charset="-122"/>
                          <a:cs typeface="Meiryo" pitchFamily="34" charset="-120"/>
                        </a:rPr>
                        <a:t>退会率</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b="1" dirty="0">
                          <a:solidFill>
                            <a:srgbClr val="1B2A20"/>
                          </a:solidFill>
                          <a:latin typeface="Meiryo" pitchFamily="34" charset="0"/>
                          <a:ea typeface="Meiryo" pitchFamily="34" charset="-122"/>
                          <a:cs typeface="Meiryo" pitchFamily="34" charset="-120"/>
                        </a:rPr>
                        <a:t>0%</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3.5%</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dirty="0">
                          <a:solidFill>
                            <a:srgbClr val="1E6B3A"/>
                          </a:solidFill>
                          <a:latin typeface="Meiryo" pitchFamily="34" charset="0"/>
                          <a:ea typeface="Meiryo" pitchFamily="34" charset="-122"/>
                          <a:cs typeface="Meiryo" pitchFamily="34" charset="-120"/>
                        </a:rPr>
                        <a:t>-3.5pt (-100%)</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3.9%</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dirty="0">
                          <a:solidFill>
                            <a:srgbClr val="1E6B3A"/>
                          </a:solidFill>
                          <a:latin typeface="Meiryo" pitchFamily="34" charset="0"/>
                          <a:ea typeface="Meiryo" pitchFamily="34" charset="-122"/>
                          <a:cs typeface="Meiryo" pitchFamily="34" charset="-120"/>
                        </a:rPr>
                        <a:t>-3.9pt (-100%)</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r>
              <a:tr h="342900">
                <a:tc>
                  <a:txBody>
                    <a:bodyPr/>
                    <a:lstStyle/>
                    <a:p>
                      <a:pPr algn="l" indent="0" marL="0">
                        <a:buNone/>
                      </a:pPr>
                      <a:r>
                        <a:rPr lang="en-US" sz="1050" b="1" dirty="0">
                          <a:solidFill>
                            <a:srgbClr val="1B2A20"/>
                          </a:solidFill>
                          <a:latin typeface="Meiryo" pitchFamily="34" charset="0"/>
                          <a:ea typeface="Meiryo" pitchFamily="34" charset="-122"/>
                          <a:cs typeface="Meiryo" pitchFamily="34" charset="-120"/>
                        </a:rPr>
                        <a:t>物販売上</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2A20"/>
                          </a:solidFill>
                          <a:latin typeface="Meiryo" pitchFamily="34" charset="0"/>
                          <a:ea typeface="Meiryo" pitchFamily="34" charset="-122"/>
                          <a:cs typeface="Meiryo" pitchFamily="34" charset="-120"/>
                        </a:rPr>
                        <a:t>¥842,000</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¥715,000</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E6B3A"/>
                          </a:solidFill>
                          <a:latin typeface="Meiryo" pitchFamily="34" charset="0"/>
                          <a:ea typeface="Meiryo" pitchFamily="34" charset="-122"/>
                          <a:cs typeface="Meiryo" pitchFamily="34" charset="-120"/>
                        </a:rPr>
                        <a:t>+127,000円 (+17.8%)</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¥690,000</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E6B3A"/>
                          </a:solidFill>
                          <a:latin typeface="Meiryo" pitchFamily="34" charset="0"/>
                          <a:ea typeface="Meiryo" pitchFamily="34" charset="-122"/>
                          <a:cs typeface="Meiryo" pitchFamily="34" charset="-120"/>
                        </a:rPr>
                        <a:t>+152,000円 (+22%)</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r>
              <a:tr h="342900">
                <a:tc>
                  <a:txBody>
                    <a:bodyPr/>
                    <a:lstStyle/>
                    <a:p>
                      <a:pPr algn="l" indent="0" marL="0">
                        <a:buNone/>
                      </a:pPr>
                      <a:r>
                        <a:rPr lang="en-US" sz="1050" b="1" dirty="0">
                          <a:solidFill>
                            <a:srgbClr val="1B2A20"/>
                          </a:solidFill>
                          <a:latin typeface="Meiryo" pitchFamily="34" charset="0"/>
                          <a:ea typeface="Meiryo" pitchFamily="34" charset="-122"/>
                          <a:cs typeface="Meiryo" pitchFamily="34" charset="-120"/>
                        </a:rPr>
                        <a:t>フィッティング</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b="1" dirty="0">
                          <a:solidFill>
                            <a:srgbClr val="1B2A20"/>
                          </a:solidFill>
                          <a:latin typeface="Meiryo" pitchFamily="34" charset="0"/>
                          <a:ea typeface="Meiryo" pitchFamily="34" charset="-122"/>
                          <a:cs typeface="Meiryo" pitchFamily="34" charset="-120"/>
                        </a:rPr>
                        <a:t>14件</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11件</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dirty="0">
                          <a:solidFill>
                            <a:srgbClr val="1E6B3A"/>
                          </a:solidFill>
                          <a:latin typeface="Meiryo" pitchFamily="34" charset="0"/>
                          <a:ea typeface="Meiryo" pitchFamily="34" charset="-122"/>
                          <a:cs typeface="Meiryo" pitchFamily="34" charset="-120"/>
                        </a:rPr>
                        <a:t>+3件 (+27.3%)</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9件</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dirty="0">
                          <a:solidFill>
                            <a:srgbClr val="1E6B3A"/>
                          </a:solidFill>
                          <a:latin typeface="Meiryo" pitchFamily="34" charset="0"/>
                          <a:ea typeface="Meiryo" pitchFamily="34" charset="-122"/>
                          <a:cs typeface="Meiryo" pitchFamily="34" charset="-120"/>
                        </a:rPr>
                        <a:t>+5件 (+55.6%)</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r>
              <a:tr h="342900">
                <a:tc>
                  <a:txBody>
                    <a:bodyPr/>
                    <a:lstStyle/>
                    <a:p>
                      <a:pPr algn="l" indent="0" marL="0">
                        <a:buNone/>
                      </a:pPr>
                      <a:r>
                        <a:rPr lang="en-US" sz="1050" b="1" dirty="0">
                          <a:solidFill>
                            <a:srgbClr val="1B2A20"/>
                          </a:solidFill>
                          <a:latin typeface="Meiryo" pitchFamily="34" charset="0"/>
                          <a:ea typeface="Meiryo" pitchFamily="34" charset="-122"/>
                          <a:cs typeface="Meiryo" pitchFamily="34" charset="-120"/>
                        </a:rPr>
                        <a:t>在籍スタッフ</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2A20"/>
                          </a:solidFill>
                          <a:latin typeface="Meiryo" pitchFamily="34" charset="0"/>
                          <a:ea typeface="Meiryo" pitchFamily="34" charset="-122"/>
                          <a:cs typeface="Meiryo" pitchFamily="34" charset="-120"/>
                        </a:rPr>
                        <a:t>15人</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15人</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±0人 (0%)</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12人</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E6B3A"/>
                          </a:solidFill>
                          <a:latin typeface="Meiryo" pitchFamily="34" charset="0"/>
                          <a:ea typeface="Meiryo" pitchFamily="34" charset="-122"/>
                          <a:cs typeface="Meiryo" pitchFamily="34" charset="-120"/>
                        </a:rPr>
                        <a:t>+3人 (+25%)</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r>
              <a:tr h="342900">
                <a:tc>
                  <a:txBody>
                    <a:bodyPr/>
                    <a:lstStyle/>
                    <a:p>
                      <a:pPr algn="l" indent="0" marL="0">
                        <a:buNone/>
                      </a:pPr>
                      <a:r>
                        <a:rPr lang="en-US" sz="1050" b="1" dirty="0">
                          <a:solidFill>
                            <a:srgbClr val="6B7B70"/>
                          </a:solidFill>
                          <a:latin typeface="Meiryo" pitchFamily="34" charset="0"/>
                          <a:ea typeface="Meiryo" pitchFamily="34" charset="-122"/>
                          <a:cs typeface="Meiryo" pitchFamily="34" charset="-120"/>
                        </a:rPr>
                        <a:t>　新規入会（当月）</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b="1" dirty="0">
                          <a:solidFill>
                            <a:srgbClr val="1B2A20"/>
                          </a:solidFill>
                          <a:latin typeface="Meiryo" pitchFamily="34" charset="0"/>
                          <a:ea typeface="Meiryo" pitchFamily="34" charset="-122"/>
                          <a:cs typeface="Meiryo" pitchFamily="34" charset="-120"/>
                        </a:rPr>
                        <a:t>9人</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4F8F5"/>
                    </a:solidFill>
                  </a:tcPr>
                </a:tc>
              </a:tr>
              <a:tr h="342900">
                <a:tc>
                  <a:txBody>
                    <a:bodyPr/>
                    <a:lstStyle/>
                    <a:p>
                      <a:pPr algn="l" indent="0" marL="0">
                        <a:buNone/>
                      </a:pPr>
                      <a:r>
                        <a:rPr lang="en-US" sz="1050" b="1" dirty="0">
                          <a:solidFill>
                            <a:srgbClr val="6B7B70"/>
                          </a:solidFill>
                          <a:latin typeface="Meiryo" pitchFamily="34" charset="0"/>
                          <a:ea typeface="Meiryo" pitchFamily="34" charset="-122"/>
                          <a:cs typeface="Meiryo" pitchFamily="34" charset="-120"/>
                        </a:rPr>
                        <a:t>　退会者数（当月）</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2A20"/>
                          </a:solidFill>
                          <a:latin typeface="Meiryo" pitchFamily="34" charset="0"/>
                          <a:ea typeface="Meiryo" pitchFamily="34" charset="-122"/>
                          <a:cs typeface="Meiryo" pitchFamily="34" charset="-120"/>
                        </a:rPr>
                        <a:t>0人</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B70"/>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773168"/>
            <a:ext cx="8229600" cy="320040"/>
          </a:xfrm>
          <a:prstGeom prst="rect">
            <a:avLst/>
          </a:prstGeom>
          <a:noFill/>
          <a:ln/>
        </p:spPr>
        <p:txBody>
          <a:bodyPr wrap="square" lIns="0" tIns="0" rIns="0" bIns="0" rtlCol="0" anchor="ctr"/>
          <a:lstStyle/>
          <a:p>
            <a:pPr indent="0" marL="0">
              <a:buNone/>
            </a:pPr>
            <a:r>
              <a:rPr lang="en-US" sz="800" i="1" dirty="0">
                <a:solidFill>
                  <a:srgbClr val="6B7B70"/>
                </a:solidFill>
                <a:latin typeface="Meiryo" pitchFamily="34" charset="0"/>
                <a:ea typeface="Meiryo" pitchFamily="34" charset="-122"/>
                <a:cs typeface="Meiryo" pitchFamily="34" charset="-120"/>
              </a:rPr>
              <a:t>※ 会員数・正会員内訳・除外区分・6月入会/退会は 会員名簿(2026-07-07取得)の実データ。会員推移は現名簿の入会日からの再構成のため過去の退会者を含まず参考値（前年比は算出保留）。物販売上・フィッティング・体験予約・入会率は専用データ未接続のため代表値。</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GOLF WING 月次報告 2026年6月</dc:title>
  <dc:subject>PptxGenJS Presentation</dc:subject>
  <dc:creator>CEO AI 秘書 (YOZAN GENESIS)</dc:creator>
  <cp:lastModifiedBy>CEO AI 秘書 (YOZAN GENESIS)</cp:lastModifiedBy>
  <cp:revision>1</cp:revision>
  <dcterms:created xsi:type="dcterms:W3CDTF">2026-07-07T06:13:37Z</dcterms:created>
  <dcterms:modified xsi:type="dcterms:W3CDTF">2026-07-07T06:13:37Z</dcterms:modified>
</cp:coreProperties>
</file>