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正会員</c:v>
                </c:pt>
              </c:strCache>
            </c:strRef>
          </c:tx>
          <c:spPr>
            <a:solidFill>
              <a:srgbClr val="1E6B3A"/>
            </a:solidFill>
            <a:ln w="38100" cap="flat">
              <a:solidFill>
                <a:srgbClr val="1E6B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6B3A"/>
              </a:solidFill>
              <a:ln w="9525" cap="flat">
                <a:solidFill>
                  <a:srgbClr val="1E6B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25/07</c:v>
                  </c:pt>
                  <c:pt idx="1">
                    <c:v>25/08</c:v>
                  </c:pt>
                  <c:pt idx="2">
                    <c:v>25/09</c:v>
                  </c:pt>
                  <c:pt idx="3">
                    <c:v>25/10</c:v>
                  </c:pt>
                  <c:pt idx="4">
                    <c:v>25/11</c:v>
                  </c:pt>
                  <c:pt idx="5">
                    <c:v>25/12</c:v>
                  </c:pt>
                  <c:pt idx="6">
                    <c:v>26/01</c:v>
                  </c:pt>
                  <c:pt idx="7">
                    <c:v>26/02</c:v>
                  </c:pt>
                  <c:pt idx="8">
                    <c:v>26/03</c:v>
                  </c:pt>
                  <c:pt idx="9">
                    <c:v>26/04</c:v>
                  </c:pt>
                  <c:pt idx="10">
                    <c:v>26/05</c:v>
                  </c:pt>
                  <c:pt idx="11">
                    <c:v>26/06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138</c:v>
                </c:pt>
                <c:pt idx="1">
                  <c:v>144</c:v>
                </c:pt>
                <c:pt idx="2">
                  <c:v>148</c:v>
                </c:pt>
                <c:pt idx="3">
                  <c:v>155</c:v>
                </c:pt>
                <c:pt idx="4">
                  <c:v>161</c:v>
                </c:pt>
                <c:pt idx="5">
                  <c:v>169</c:v>
                </c:pt>
                <c:pt idx="6">
                  <c:v>172</c:v>
                </c:pt>
                <c:pt idx="7">
                  <c:v>180</c:v>
                </c:pt>
                <c:pt idx="8">
                  <c:v>188</c:v>
                </c:pt>
                <c:pt idx="9">
                  <c:v>196</c:v>
                </c:pt>
                <c:pt idx="10">
                  <c:v>203</c:v>
                </c:pt>
                <c:pt idx="11">
                  <c:v>210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20"/>
        </c:scaling>
        <c:delete val="0"/>
        <c:axPos val="l"/>
        <c:majorGridlines>
          <c:spPr>
            <a:ln w="6350" cap="flat">
              <a:solidFill>
                <a:srgbClr val="D8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物販売上</c:v>
                </c:pt>
              </c:strCache>
            </c:strRef>
          </c:tx>
          <c:spPr>
            <a:solidFill>
              <a:srgbClr val="3E8E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25/07</c:v>
                  </c:pt>
                  <c:pt idx="1">
                    <c:v>25/08</c:v>
                  </c:pt>
                  <c:pt idx="2">
                    <c:v>25/09</c:v>
                  </c:pt>
                  <c:pt idx="3">
                    <c:v>25/10</c:v>
                  </c:pt>
                  <c:pt idx="4">
                    <c:v>25/11</c:v>
                  </c:pt>
                  <c:pt idx="5">
                    <c:v>25/12</c:v>
                  </c:pt>
                  <c:pt idx="6">
                    <c:v>26/01</c:v>
                  </c:pt>
                  <c:pt idx="7">
                    <c:v>26/02</c:v>
                  </c:pt>
                  <c:pt idx="8">
                    <c:v>26/03</c:v>
                  </c:pt>
                  <c:pt idx="9">
                    <c:v>26/04</c:v>
                  </c:pt>
                  <c:pt idx="10">
                    <c:v>26/05</c:v>
                  </c:pt>
                  <c:pt idx="11">
                    <c:v>26/06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732278</c:v>
                </c:pt>
                <c:pt idx="1">
                  <c:v>982393</c:v>
                </c:pt>
                <c:pt idx="2">
                  <c:v>372605</c:v>
                </c:pt>
                <c:pt idx="3">
                  <c:v>570376</c:v>
                </c:pt>
                <c:pt idx="4">
                  <c:v>1225161</c:v>
                </c:pt>
                <c:pt idx="5">
                  <c:v>929264</c:v>
                </c:pt>
                <c:pt idx="6">
                  <c:v>831118</c:v>
                </c:pt>
                <c:pt idx="7">
                  <c:v>678363</c:v>
                </c:pt>
                <c:pt idx="8">
                  <c:v>890417</c:v>
                </c:pt>
                <c:pt idx="9">
                  <c:v>999499</c:v>
                </c:pt>
                <c:pt idx="10">
                  <c:v>782311</c:v>
                </c:pt>
                <c:pt idx="11">
                  <c:v>1174200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1E6B3A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108960"/>
            <a:ext cx="2926080" cy="2926080"/>
          </a:xfrm>
          <a:prstGeom prst="ellipse">
            <a:avLst/>
          </a:prstGeom>
          <a:solidFill>
            <a:srgbClr val="1A4A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2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MONTHLY 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FE0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月次報告書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2026年6月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2743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宝塚　</a:t>
            </a:r>
            <a:pPr indent="0" marL="0">
              <a:buNone/>
            </a:pPr>
            <a:r>
              <a:rPr lang="en-US" sz="1200" dirty="0">
                <a:solidFill>
                  <a:srgbClr val="CFE0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株式会社YOZAN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作成: CEO AI 秘書 (YOZAN GENESIS)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今月のサマリー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2026年6月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90800" cy="1627632"/>
          </a:xfrm>
          <a:prstGeom prst="roundRect">
            <a:avLst>
              <a:gd name="adj" fmla="val 4494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472184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会員数（正会員）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28216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210人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68296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pPr indent="0" marL="0">
              <a:buNone/>
            </a:pP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+7人 (+3.4%)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624328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pPr indent="0" marL="0">
              <a:buNone/>
            </a:pPr>
            <a:r>
              <a:rPr lang="en-US" sz="11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6600" y="1325880"/>
            <a:ext cx="2590800" cy="1627632"/>
          </a:xfrm>
          <a:prstGeom prst="roundRect">
            <a:avLst>
              <a:gd name="adj" fmla="val 4494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7768" y="1472184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体験（一時利用）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59480" y="1728216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7件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77768" y="2368296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-10件 (-58.8%)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7768" y="2624328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pPr indent="0" marL="0">
              <a:buNone/>
            </a:pPr>
            <a:r>
              <a:rPr lang="en-US" sz="11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±0件 (0%)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6000" y="1325880"/>
            <a:ext cx="2590800" cy="1627632"/>
          </a:xfrm>
          <a:prstGeom prst="roundRect">
            <a:avLst>
              <a:gd name="adj" fmla="val 4494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97168" y="1472184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入会率(入会/体験)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8880" y="1728216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128.6%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97168" y="2368296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pPr indent="0" marL="0">
              <a:buNone/>
            </a:pP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+75.7pt (+143.1%)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97168" y="2624328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pPr indent="0" marL="0">
              <a:buNone/>
            </a:pP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+57.2pt (+80.1%)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2590800" cy="1627632"/>
          </a:xfrm>
          <a:prstGeom prst="roundRect">
            <a:avLst>
              <a:gd name="adj" fmla="val 4494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3300984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退会率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557016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58368" y="4197096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pPr indent="0" marL="0">
              <a:buNone/>
            </a:pP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-3.5pt (-100%)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4453128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pPr indent="0" marL="0">
              <a:buNone/>
            </a:pP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-3.9pt (-100%)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76600" y="3154680"/>
            <a:ext cx="2590800" cy="1627632"/>
          </a:xfrm>
          <a:prstGeom prst="roundRect">
            <a:avLst>
              <a:gd name="adj" fmla="val 4494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7768" y="3300984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物販売上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59480" y="3557016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¥1,174,200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477768" y="4197096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pPr indent="0" marL="0">
              <a:buNone/>
            </a:pP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+391,889円 (+50.1%)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7768" y="4453128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-218,401円 (-15.7%)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96000" y="3154680"/>
            <a:ext cx="2590800" cy="1627632"/>
          </a:xfrm>
          <a:prstGeom prst="roundRect">
            <a:avLst>
              <a:gd name="adj" fmla="val 4494"/>
            </a:avLst>
          </a:prstGeom>
          <a:solidFill>
            <a:srgbClr val="F1F5F1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97168" y="3300984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フィッティング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78880" y="3557016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7件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6297168" y="4197096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-6件 (-46.2%)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97168" y="4453128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-1件 (-12.5%)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会員数の推移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2026年6月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58521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23444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1F5F1"/>
          </a:solidFill>
          <a:ln/>
        </p:spPr>
      </p:sp>
      <p:sp>
        <p:nvSpPr>
          <p:cNvPr id="7" name="Text 4"/>
          <p:cNvSpPr/>
          <p:nvPr/>
        </p:nvSpPr>
        <p:spPr>
          <a:xfrm>
            <a:off x="6720840" y="13258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当月 会員数（正会員）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720840" y="156362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210人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720840" y="20299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pPr indent="0" marL="0">
              <a:buNone/>
            </a:pPr>
            <a:r>
              <a:rPr lang="en-US" sz="105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+7人 (+3.4%)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37960" y="2432304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1F5F1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252374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当月の異動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20840" y="2761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新規入会　</a:t>
            </a:r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9人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20840" y="3044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退会者数　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0人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37960" y="3465576"/>
            <a:ext cx="2148840" cy="1243584"/>
          </a:xfrm>
          <a:prstGeom prst="roundRect">
            <a:avLst>
              <a:gd name="adj" fmla="val 5882"/>
            </a:avLst>
          </a:prstGeom>
          <a:solidFill>
            <a:srgbClr val="13311E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会員数に含まない区分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720840" y="3785616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　15人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モニター会員　7人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法人会員2枚目　5人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トライアル会員　2人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38039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会員構成（会員種類名）: </a:t>
            </a:r>
            <a:pPr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レギュラー会員134 / マスター会員35 / チケット会員17 / ライト会員9 / レギュラー家族割会員7 / 法人会員5 / プラチナレギュラー会員3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2062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会員数（正会員）＝会員名簿の在籍から、会員種類名「スタッフ」「モニター会員」「法人会員2枚目」「トライアル会員」を除外。当月末退会者は当月の会員数に含めない。表記は会員名簿の会員種類名どおり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物販売上・フィッティング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2026年6月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23444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1F5F1"/>
          </a:solidFill>
          <a:ln/>
        </p:spPr>
      </p:sp>
      <p:sp>
        <p:nvSpPr>
          <p:cNvPr id="7" name="Text 4"/>
          <p:cNvSpPr/>
          <p:nvPr/>
        </p:nvSpPr>
        <p:spPr>
          <a:xfrm>
            <a:off x="6720840" y="13533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当月 物販売上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20840" y="1627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¥1,174,200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720840" y="20848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pPr indent="0" marL="0">
              <a:buNone/>
            </a:pP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+391,889円 (+50.1%)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37960" y="260604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13311E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27249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フィッティング件数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20840" y="29809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7件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720840" y="34930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-6件 (-46.2%)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20840" y="3749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-1件 (-12.5%)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月間の実施事項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2026年6月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00100"/>
          </a:xfrm>
          <a:prstGeom prst="roundRect">
            <a:avLst>
              <a:gd name="adj" fmla="val 6857"/>
            </a:avLst>
          </a:prstGeom>
          <a:solidFill>
            <a:srgbClr val="F1F5F1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479042"/>
            <a:ext cx="402336" cy="402336"/>
          </a:xfrm>
          <a:prstGeom prst="ellipse">
            <a:avLst/>
          </a:prstGeom>
          <a:solidFill>
            <a:srgbClr val="1E6B3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790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353312"/>
            <a:ext cx="72694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6月は新規入会9名（会員名簿）・退会0名で純増、正会員210名。7〜8月に退会予定10名あり定着施策を前倒し。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217420"/>
            <a:ext cx="8229600" cy="800100"/>
          </a:xfrm>
          <a:prstGeom prst="roundRect">
            <a:avLst>
              <a:gd name="adj" fmla="val 6857"/>
            </a:avLst>
          </a:prstGeom>
          <a:solidFill>
            <a:srgbClr val="F1F5F1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416302"/>
            <a:ext cx="402336" cy="402336"/>
          </a:xfrm>
          <a:prstGeom prst="ellipse">
            <a:avLst/>
          </a:prstGeom>
          <a:solidFill>
            <a:srgbClr val="1E6B3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163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290572"/>
            <a:ext cx="72694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体験利用7件に対し当月入会9名で入会率128.6%（会員名簿入会÷体験。体験非経由の入会も含むため100%超）。フィッティング7件→クラブ購入6件と高転換。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229600" cy="800100"/>
          </a:xfrm>
          <a:prstGeom prst="roundRect">
            <a:avLst>
              <a:gd name="adj" fmla="val 6857"/>
            </a:avLst>
          </a:prstGeom>
          <a:solidFill>
            <a:srgbClr val="F1F5F1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3353562"/>
            <a:ext cx="402336" cy="402336"/>
          </a:xfrm>
          <a:prstGeom prst="ellipse">
            <a:avLst/>
          </a:prstGeom>
          <a:solidFill>
            <a:srgbClr val="1E6B3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35356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227832"/>
            <a:ext cx="72694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パーソナルレッスン30件、打席A〜Eの5面稼働（練習タイム・スタッフアワー中心）。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091940"/>
            <a:ext cx="8229600" cy="800100"/>
          </a:xfrm>
          <a:prstGeom prst="roundRect">
            <a:avLst>
              <a:gd name="adj" fmla="val 6857"/>
            </a:avLst>
          </a:prstGeom>
          <a:solidFill>
            <a:srgbClr val="F1F5F1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4290822"/>
            <a:ext cx="402336" cy="402336"/>
          </a:xfrm>
          <a:prstGeom prst="ellipse">
            <a:avLst/>
          </a:prstGeom>
          <a:solidFill>
            <a:srgbClr val="1E6B3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2908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4165092"/>
            <a:ext cx="72694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物販は父の日フェア（6/14〜6/15）等で好調。物販売上は前月比+50.1%（78.2万→117.4万円・税込）。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問題点の洗い出し ／ 実施予定（解決策）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2026年6月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440" y="12070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実施予定・解決策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023360" cy="987552"/>
          </a:xfrm>
          <a:prstGeom prst="roundRect">
            <a:avLst>
              <a:gd name="adj" fmla="val 5556"/>
            </a:avLst>
          </a:prstGeom>
          <a:solidFill>
            <a:srgbClr val="FBEEE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55064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体験件数が前月17→7件へ半減。梅雨・集客施策のタイミングに左右され、体験の母数確保が課題。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023360" cy="987552"/>
          </a:xfrm>
          <a:prstGeom prst="roundRect">
            <a:avLst>
              <a:gd name="adj" fmla="val 5556"/>
            </a:avLst>
          </a:prstGeom>
          <a:solidFill>
            <a:srgbClr val="E7EFE8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55064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【体験集客】SNS・Googleマップ・紹介から体験予約を増やし、体験の母数を回復。チャネル別に予約→入会を追跡。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011680"/>
            <a:ext cx="1828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752344"/>
            <a:ext cx="4023360" cy="987552"/>
          </a:xfrm>
          <a:prstGeom prst="roundRect">
            <a:avLst>
              <a:gd name="adj" fmla="val 5556"/>
            </a:avLst>
          </a:prstGeom>
          <a:solidFill>
            <a:srgbClr val="FBEEE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07208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7〜8月に退会予定10名。退会理由に「予約が取りづらい」が複数。混雑時間帯の打席・予約導線が課題。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752344"/>
            <a:ext cx="4023360" cy="987552"/>
          </a:xfrm>
          <a:prstGeom prst="roundRect">
            <a:avLst>
              <a:gd name="adj" fmla="val 5556"/>
            </a:avLst>
          </a:prstGeom>
          <a:solidFill>
            <a:srgbClr val="E7EFE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807208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【退会予定対策】退会予定10名へ面談＋休会提案を7月上旬までに実施。空き枠可視化・時間帯分散で予約の取りやすさを改善。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3163824"/>
            <a:ext cx="1828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3904488"/>
            <a:ext cx="4023360" cy="987552"/>
          </a:xfrm>
          <a:prstGeom prst="roundRect">
            <a:avLst>
              <a:gd name="adj" fmla="val 5556"/>
            </a:avLst>
          </a:prstGeom>
          <a:solidFill>
            <a:srgbClr val="FBEEE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59352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フィッティング件数も前月13→7件へ減少。購入転換（6/7）は高いだけに、送客数の底上げが必要。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904488"/>
            <a:ext cx="4023360" cy="987552"/>
          </a:xfrm>
          <a:prstGeom prst="roundRect">
            <a:avLst>
              <a:gd name="adj" fmla="val 5556"/>
            </a:avLst>
          </a:prstGeom>
          <a:solidFill>
            <a:srgbClr val="E7EFE8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959352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【フィッティング送客】購入転換が高いフィッティングへ、体験・会員から送客を強化し件数の底上げを図る。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4315968"/>
            <a:ext cx="1828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その他 情報共有事項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2026年6月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8196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入会率＝会員名簿の当月入会数 ÷ 一時利用の体験者数（会員名簿基準）。当月9÷7=128.6%。会員名簿の入会には体験を経ない直接入会も含むため100%を超えることがある。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00837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体験・フィッティングは一時利用者名簿、物販売上は売上データ（税込）、会員数は会員名簿を正として集計。予約一覧はキャンセル未反映のため打席稼働・パーソナル監視に使用。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19709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6月実績: パーソナル30件・打席5面稼働・ビジター打席2件。会員数は会員種類名でスタッフ・モニター会員・法人会員2枚目・トライアル会員を除外。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指標一覧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2026年6月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  <a:gridCol w="1554480"/>
                <a:gridCol w="1051560"/>
                <a:gridCol w="187452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前月比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前年同月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1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会員数（正会員）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210人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203人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6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+7人 (+3.4%)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体験（一時利用）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-10件 (-58.8%)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±0件 (0%)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入会率(入会/体験)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128.6%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52.9%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6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+75.7pt (+143.1%)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71.4%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6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+57.2pt (+80.1%)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退会率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3.5%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6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-3.5pt (-100%)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3.9%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6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-3.9pt (-100%)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物販売上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¥1,174,200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¥782,311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6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+391,889円 (+50.1%)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¥1,392,601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-218,401円 (-15.7%)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フィッティング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-6件 (-46.2%)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-1件 (-12.5%)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在籍スタッフ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±0人 (0%)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6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+3人 (+25%)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　新規入会（当月）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　退会者数（当月）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会員数・入会数・除外区分は会員名簿(2026-07-07)、体験・フィッティングは一時利用者名簿(2026-06)、物販売上は売上データ(品目「販売」税込)の実データ。入会率＝会員名簿の当月入会数÷一時利用の体験者数（当月9÷7=128.6%、体験非経由の入会も含むため100%超）。予約一覧はキャンセル未反映のため打席稼働・パーソナル監視に使用。会員推移は名簿の入会日再構成の参考値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GOLF WING 月次報告 2026年6月</dc:title>
  <dc:subject>PptxGenJS Presentation</dc:subject>
  <dc:creator>CEO AI 秘書 (YOZAN GENESIS)</dc:creator>
  <cp:lastModifiedBy>CEO AI 秘書 (YOZAN GENESIS)</cp:lastModifiedBy>
  <cp:revision>1</cp:revision>
  <dcterms:created xsi:type="dcterms:W3CDTF">2026-07-07T07:59:14Z</dcterms:created>
  <dcterms:modified xsi:type="dcterms:W3CDTF">2026-07-07T07:59:14Z</dcterms:modified>
</cp:coreProperties>
</file>