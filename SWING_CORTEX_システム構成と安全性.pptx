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全体感を掴んでもらうための資料。詳細な技術仕様書ではない。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上から下に読む。利用者→アプリ→Vercel→Supabase。右は開発の裏側で、利用者は触らない。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内製の速さと、記録が残ることの両立。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多層防御。層3（RLS）が要。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Supabaseのセキュリティ診断（advisor）でERROR 0件。数字は2026-07-17時点。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§7の線引き。承認≠配信。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システム構成と安全性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レッスンの現場をAIで支えるコーチ補助システム — その全体像と、データを守る仕組み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457200" cy="27432"/>
          </a:xfrm>
          <a:prstGeom prst="rect">
            <a:avLst/>
          </a:prstGeom>
          <a:solidFill>
            <a:srgbClr val="D98F26"/>
          </a:solidFill>
          <a:ln w="12700">
            <a:solidFill>
              <a:srgbClr val="D98F2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 現在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全体構成 — 誰が使い、どこで動いているか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052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利用者が触るのは一番上だけ。下の3つは自動で動く土台です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コーチ・本部スタッフ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2267712"/>
            <a:ext cx="237744" cy="310896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6974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816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コーチ補助アプリ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0906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／ クイック診断（症状→原因・対処）／コメント補助（AIが下書き）／生徒カルテ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3685032"/>
            <a:ext cx="237744" cy="310896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1148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224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498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画面を配信するサーバー（自動で公開・常時稼働）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87168" y="4919472"/>
            <a:ext cx="237744" cy="310896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B9C9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5504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Supabase（データの土台）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806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コメント・診断・カルテを集約（東京）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54864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9C9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21024" y="5596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21024" y="5870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指導コメント・診断ログ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95544" y="54864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9C9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96128" y="5596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ログイン認証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96128" y="5870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本人確認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70648" y="54864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9C9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71232" y="5596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AI連携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71232" y="5870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Claudeで文章を下書き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45752" y="54864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9C9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546336" y="5596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アクセス権限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46336" y="5870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コーチ／本部で分離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14813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裏側（利用者は触りません）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18288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8EC"/>
          </a:solidFill>
          <a:ln w="12700">
            <a:solidFill>
              <a:srgbClr val="E8C88A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0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224942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開発・修正・テストの支援。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人が決めた仕様をコードにする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2286000"/>
            <a:ext cx="292608" cy="256032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613648" y="1828800"/>
            <a:ext cx="29992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796528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96528" y="22494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プログラムと変更履歴の保管。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誰がいつ何を変えたか全部残る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0" y="3291840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EAF6F2"/>
          </a:solidFill>
          <a:ln w="12700">
            <a:solidFill>
              <a:srgbClr val="9AD3C4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212080" y="34290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自動テスト（CI）に合格したものだけが公開される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212080" y="37124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権限やコメント生成のロジックはテストで検証。落ちたら公開されない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17720" y="4251960"/>
            <a:ext cx="274320" cy="237744"/>
          </a:xfrm>
          <a:prstGeom prst="lef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9200" y="4233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 → Vercelへ自動反映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Claudeを使った作り方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052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人が決め、AIが書き、機械が検証する。外注せず内製だから、直したいときにすぐ直せる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80136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85623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決める（人）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何を作るか・どう計算するか。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判断と責任は人が持つ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2542032"/>
            <a:ext cx="201168" cy="201168"/>
          </a:xfrm>
          <a:prstGeom prst="rightArrow">
            <a:avLst/>
          </a:prstGeom>
          <a:solidFill>
            <a:srgbClr val="AEBDD4"/>
          </a:solidFill>
          <a:ln w="12700">
            <a:solidFill>
              <a:srgbClr val="AEBDD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93008" y="160020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94176" y="1801368"/>
            <a:ext cx="420624" cy="420624"/>
          </a:xfrm>
          <a:prstGeom prst="ellipse">
            <a:avLst/>
          </a:prstGeom>
          <a:solidFill>
            <a:srgbClr val="D98F26"/>
          </a:solidFill>
          <a:ln w="12700">
            <a:solidFill>
              <a:srgbClr val="D98F2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94176" y="185623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4176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書く（Claude）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94176" y="2670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画面・処理・データ設計を実装。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設計の理由も文書に残す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542032"/>
            <a:ext cx="201168" cy="201168"/>
          </a:xfrm>
          <a:prstGeom prst="rightArrow">
            <a:avLst/>
          </a:prstGeom>
          <a:solidFill>
            <a:srgbClr val="AEBDD4"/>
          </a:solidFill>
          <a:ln w="12700">
            <a:solidFill>
              <a:srgbClr val="AEBDD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45936" y="160020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47104" y="1801368"/>
            <a:ext cx="420624" cy="420624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47104" y="185623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47104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検証する（機械）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47104" y="2670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自動テスト＋型チェック＋ビルド。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GitHubが自動で実行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70848" y="2542032"/>
            <a:ext cx="201168" cy="201168"/>
          </a:xfrm>
          <a:prstGeom prst="rightArrow">
            <a:avLst/>
          </a:prstGeom>
          <a:solidFill>
            <a:srgbClr val="AEBDD4"/>
          </a:solidFill>
          <a:ln w="12700">
            <a:solidFill>
              <a:srgbClr val="AEBDD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98864" y="160020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400032" y="180136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00032" y="185623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0003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公開する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00032" y="2670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合格したものだけVercelへ。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問題があれば履歴から元に戻せる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1097280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6012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この作り方で、今こうなっています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1日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6012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新機能を追加するまで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0120" y="5504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既存の共通部品を流用してすぐ追加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4段階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365760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積み上げた機能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57600" y="5504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診断→AIコメント→生徒カルテ→販売切替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5,939件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635508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AIが参照する実コメント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55080" y="5504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その教室らしい言い回しを再現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05256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2種類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905256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AIが出す下書き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52560" y="5504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記録用／そのまま送れる文章を同時に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安全性の考え方 — 4枚の扉で守る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052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1枚が破られても次で止まる。特にデータベース本体で止めるのが要です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737360"/>
            <a:ext cx="105156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653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ログイン（本人確認）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03120" y="198424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Authで認証。パスワードは暗号化して保存し、誰も元の文字列を見られない。ログイン中の本人だけがアプリを開ける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2953512"/>
            <a:ext cx="105156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0815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役割で見える範囲を分ける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103120" y="32004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「コーチ」「本部」など役割ごとに許可を設定。役割を外せば一括で見えなくなる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169664"/>
            <a:ext cx="1051560" cy="530352"/>
          </a:xfrm>
          <a:prstGeom prst="roundRect">
            <a:avLst>
              <a:gd name="adj" fmla="val 10345"/>
            </a:avLst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297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DB本体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データベースが自分で拒否する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103120" y="4416552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教室ごとの絞り込みをデータベース側で強制（行レベルセキュリティ）。アプリ側にミスがあっても、他の教室のコメントは返らない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29784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5385816"/>
            <a:ext cx="105156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513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5330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消せない操作ログ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103120" y="5632704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誰がいつ何を変えたかを全部記録。ログは追加のみで、更新も削除もできない設定（改ざん防止）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AIの接続鍵（APIキー）など特に重要な情報は、上の4枚に加えてサーバー専用の経路からしか触れない設計にしています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データの土台（Supabase）を、どう守っているか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052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自動セキュリティ点検を実施し、危険度の高い指摘はゼロを確認しています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728216"/>
            <a:ext cx="146304" cy="146304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1673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鍵の管理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強い権限を持つ鍵やAIの接続鍵はサーバーの中だけに置き、ブラウザには一切渡さない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1688" y="15087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856" y="1728216"/>
            <a:ext cx="146304" cy="146304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18888" y="1673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匿名アクセスの遮断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18888" y="19842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ログインしていない相手がデータに触れる経路を全て閉鎖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5087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84464" y="1728216"/>
            <a:ext cx="146304" cy="146304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40496" y="1673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新しい穴を作らない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40496" y="19842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今後テーブルを増やしても権限が自動で開かないよう、既定設定そのものを停止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1248" y="3099816"/>
            <a:ext cx="146304" cy="146304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3044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教室ごとの分離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80" y="33558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教室ごとにデータを分け、他の教室のコメントには一切触れられない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61688" y="28803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62856" y="3099816"/>
            <a:ext cx="146304" cy="146304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18888" y="3044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保管場所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18888" y="33558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東京リージョンに保管。通信も保存領域も暗号化。日次バックアップあり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28803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84464" y="3099816"/>
            <a:ext cx="146304" cy="146304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540496" y="3044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AIへの権限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40496" y="33558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AIは下書きまで。生徒への送信・カルテ確定・本番反映は人が実行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389120"/>
            <a:ext cx="1097280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点検の結果（自動セキュリティ診断）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937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EE0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0件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960120" y="5504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危険度「高」の指摘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012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重大リスクなしを確認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4937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鍵つき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572000" y="5504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初期状態から保護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許可された人だけがアクセスできる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4937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教室ごと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183880" y="5504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データを分離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8388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他の教室の内容は混ざらない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AIにどこまで任せるか — 危ないことは人が止める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052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AIの動きは3段階に分けて登録。定義にないものは自動的に「承認必須」に倒れます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AF6F2"/>
          </a:solidFill>
          <a:ln w="12700">
            <a:solidFill>
              <a:srgbClr val="9AD3C4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783080"/>
            <a:ext cx="384048" cy="384048"/>
          </a:xfrm>
          <a:prstGeom prst="ellipse">
            <a:avLst/>
          </a:prstGeom>
          <a:solidFill>
            <a:srgbClr val="0E8F73"/>
          </a:solidFill>
          <a:ln w="12700">
            <a:solidFill>
              <a:srgbClr val="0E8F7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自動でやってよい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コメントの下書き生成、症状の集計・分析、社内向けの下書き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8EC"/>
          </a:solidFill>
          <a:ln w="12700">
            <a:solidFill>
              <a:srgbClr val="E8C88A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0288" y="1783080"/>
            <a:ext cx="384048" cy="384048"/>
          </a:xfrm>
          <a:prstGeom prst="ellipse">
            <a:avLst/>
          </a:prstGeom>
          <a:solidFill>
            <a:srgbClr val="D98F26"/>
          </a:solidFill>
          <a:ln w="12700">
            <a:solidFill>
              <a:srgbClr val="D98F2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0288" y="18288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数分待ってから実行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0288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その間は取消できる（現在は下書きの提示のみで運用）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 w="12700">
            <a:solidFill>
              <a:srgbClr val="B9C9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11896" y="17830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11896" y="18288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11896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人の承認が要る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11896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生徒への送信、カルテへの確定保存、本番システムの変更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いちばん大事なルール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AIが下書きしても、それだけでは外に出ません。生徒への送信やカルテ確定は、コーチが確認してから実行します。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663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 w="12700">
            <a:solidFill>
              <a:srgbClr val="B9C9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8BC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そして、すべての操作は記録に残ります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650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人が押した承認も、AIが実行した処理も、同じ操作ログに追記されます（後から消せません）。「誰がいつ何をしたか」を、あとから必ず追えます。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2026-07-17T03:20:54Z</dcterms:created>
  <dcterms:modified xsi:type="dcterms:W3CDTF">2026-07-17T03:20:54Z</dcterms:modified>
</cp:coreProperties>
</file>